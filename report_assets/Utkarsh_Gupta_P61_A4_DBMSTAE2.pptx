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Consolas" panose="020B0609020204030204" pitchFamily="49" charset="0"/>
      <p:regular r:id="rId13"/>
      <p:bold r:id="rId14"/>
      <p:italic r:id="rId15"/>
      <p:boldItalic r:id="rId16"/>
    </p:embeddedFont>
    <p:embeddedFont>
      <p:font typeface="MuseoModerno Medium" panose="020B0604020202020204" charset="0"/>
      <p:regular r:id="rId17"/>
    </p:embeddedFont>
    <p:embeddedFont>
      <p:font typeface="Source Sans 3" panose="020B0604020202020204" charset="0"/>
      <p:regular r:id="rId18"/>
    </p:embeddedFont>
    <p:embeddedFont>
      <p:font typeface="Source Sans 3 Bold"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E4D5"/>
    <a:srgbClr val="FFFC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5293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50738C"/>
          </a:solidFill>
          <a:ln/>
        </p:spPr>
      </p:sp>
      <p:sp>
        <p:nvSpPr>
          <p:cNvPr id="3" name="Shape 1"/>
          <p:cNvSpPr/>
          <p:nvPr/>
        </p:nvSpPr>
        <p:spPr>
          <a:xfrm>
            <a:off x="0" y="0"/>
            <a:ext cx="12191695" cy="68580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50738C"/>
          </a:solidFill>
          <a:ln/>
        </p:spPr>
      </p:sp>
      <p:sp>
        <p:nvSpPr>
          <p:cNvPr id="3" name="Shape 1"/>
          <p:cNvSpPr/>
          <p:nvPr/>
        </p:nvSpPr>
        <p:spPr>
          <a:xfrm>
            <a:off x="0" y="0"/>
            <a:ext cx="12191695" cy="6858000"/>
          </a:xfrm>
          <a:prstGeom prst="rect">
            <a:avLst/>
          </a:prstGeom>
          <a:solidFill>
            <a:srgbClr val="FFFCF5"/>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FFFCF5">
              <a:alpha val="50000"/>
            </a:srgbClr>
          </a:solidFill>
          <a:ln/>
        </p:spPr>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2195711"/>
            <a:ext cx="10868745"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24E73"/>
                </a:solidFill>
                <a:latin typeface="MuseoModerno Medium" pitchFamily="34" charset="0"/>
                <a:ea typeface="MuseoModerno Medium" pitchFamily="34" charset="-122"/>
                <a:cs typeface="MuseoModerno Medium" pitchFamily="34" charset="-120"/>
              </a:rPr>
              <a:t>AI Freelance Marketplace Management System</a:t>
            </a:r>
            <a:endParaRPr lang="en-US" sz="3700" dirty="0"/>
          </a:p>
        </p:txBody>
      </p:sp>
      <p:sp>
        <p:nvSpPr>
          <p:cNvPr id="3" name="Text 1"/>
          <p:cNvSpPr/>
          <p:nvPr/>
        </p:nvSpPr>
        <p:spPr>
          <a:xfrm>
            <a:off x="661475" y="3755033"/>
            <a:ext cx="1086874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B4150"/>
                </a:solidFill>
                <a:latin typeface="Source Sans 3" pitchFamily="34" charset="0"/>
                <a:ea typeface="Source Sans 3" pitchFamily="34" charset="-122"/>
                <a:cs typeface="Source Sans 3" pitchFamily="34" charset="-120"/>
              </a:rPr>
              <a:t>Student: Utkarsh Gupta · T.Y. B.Tech CSE (Data Science)</a:t>
            </a:r>
            <a:endParaRPr lang="en-US" sz="1450" dirty="0"/>
          </a:p>
          <a:p>
            <a:pPr marL="0" indent="0" algn="l">
              <a:lnSpc>
                <a:spcPct val="133000"/>
              </a:lnSpc>
              <a:buNone/>
            </a:pPr>
            <a:r>
              <a:rPr lang="en-US" sz="1450" dirty="0">
                <a:solidFill>
                  <a:srgbClr val="2B4150"/>
                </a:solidFill>
                <a:latin typeface="Source Sans 3" pitchFamily="34" charset="0"/>
                <a:ea typeface="Source Sans 3" pitchFamily="34" charset="-122"/>
                <a:cs typeface="Source Sans 3" pitchFamily="34" charset="-120"/>
              </a:rPr>
              <a:t>G H Raisoni College of Engineering and Management, Pune · Guide: Mr. Chinmay Mukim</a:t>
            </a:r>
            <a:endParaRPr lang="en-US" sz="1450" dirty="0"/>
          </a:p>
          <a:p>
            <a:pPr marL="0" indent="0" algn="l">
              <a:lnSpc>
                <a:spcPct val="133000"/>
              </a:lnSpc>
              <a:buNone/>
            </a:pPr>
            <a:r>
              <a:rPr lang="en-US" sz="1450" dirty="0">
                <a:solidFill>
                  <a:srgbClr val="2B4150"/>
                </a:solidFill>
                <a:latin typeface="Source Sans 3" pitchFamily="34" charset="0"/>
                <a:ea typeface="Source Sans 3" pitchFamily="34" charset="-122"/>
                <a:cs typeface="Source Sans 3" pitchFamily="34" charset="-120"/>
              </a:rPr>
              <a:t>Academic Year: 2026–2027 · Database: PostgreSQL (JSONB Core)</a:t>
            </a:r>
            <a:endParaRPr lang="en-US" sz="1450" dirty="0"/>
          </a:p>
        </p:txBody>
      </p:sp>
      <p:sp>
        <p:nvSpPr>
          <p:cNvPr id="6" name="Rectangle 5">
            <a:extLst>
              <a:ext uri="{FF2B5EF4-FFF2-40B4-BE49-F238E27FC236}">
                <a16:creationId xmlns:a16="http://schemas.microsoft.com/office/drawing/2014/main" id="{B00FE510-9754-0068-569E-D6E61B98D96A}"/>
              </a:ext>
            </a:extLst>
          </p:cNvPr>
          <p:cNvSpPr/>
          <p:nvPr/>
        </p:nvSpPr>
        <p:spPr>
          <a:xfrm>
            <a:off x="11056776" y="6550090"/>
            <a:ext cx="1063689" cy="242596"/>
          </a:xfrm>
          <a:prstGeom prst="rect">
            <a:avLst/>
          </a:prstGeom>
          <a:solidFill>
            <a:srgbClr val="FFFC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CF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452761"/>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24E73"/>
                </a:solidFill>
                <a:latin typeface="MuseoModerno Medium" pitchFamily="34" charset="0"/>
                <a:ea typeface="MuseoModerno Medium" pitchFamily="34" charset="-122"/>
                <a:cs typeface="MuseoModerno Medium" pitchFamily="34" charset="-120"/>
              </a:rPr>
              <a:t>Problem Statement &amp; Objectives</a:t>
            </a:r>
            <a:endParaRPr lang="en-US" sz="2950" dirty="0"/>
          </a:p>
        </p:txBody>
      </p:sp>
      <p:sp>
        <p:nvSpPr>
          <p:cNvPr id="3" name="Shape 1"/>
          <p:cNvSpPr/>
          <p:nvPr/>
        </p:nvSpPr>
        <p:spPr>
          <a:xfrm>
            <a:off x="661475" y="2303264"/>
            <a:ext cx="5339820" cy="3101876"/>
          </a:xfrm>
          <a:prstGeom prst="roundRect">
            <a:avLst>
              <a:gd name="adj" fmla="val 914"/>
            </a:avLst>
          </a:prstGeom>
          <a:solidFill>
            <a:srgbClr val="F3EEE3"/>
          </a:solidFill>
          <a:ln/>
        </p:spPr>
      </p:sp>
      <p:sp>
        <p:nvSpPr>
          <p:cNvPr id="4" name="Text 2"/>
          <p:cNvSpPr/>
          <p:nvPr/>
        </p:nvSpPr>
        <p:spPr>
          <a:xfrm>
            <a:off x="850482" y="2492276"/>
            <a:ext cx="4961806" cy="295275"/>
          </a:xfrm>
          <a:prstGeom prst="rect">
            <a:avLst/>
          </a:prstGeom>
          <a:noFill/>
          <a:ln/>
        </p:spPr>
        <p:txBody>
          <a:bodyPr wrap="none" lIns="0" tIns="0" rIns="0" bIns="0" rtlCol="0" anchor="t"/>
          <a:lstStyle/>
          <a:p>
            <a:pPr marL="0" indent="0" algn="l">
              <a:lnSpc>
                <a:spcPct val="104000"/>
              </a:lnSpc>
              <a:buNone/>
            </a:pPr>
            <a:r>
              <a:rPr lang="en-US" sz="1850" dirty="0">
                <a:solidFill>
                  <a:srgbClr val="2B4150"/>
                </a:solidFill>
                <a:latin typeface="MuseoModerno Medium" pitchFamily="34" charset="0"/>
                <a:ea typeface="MuseoModerno Medium" pitchFamily="34" charset="-122"/>
                <a:cs typeface="MuseoModerno Medium" pitchFamily="34" charset="-120"/>
              </a:rPr>
              <a:t>Problem</a:t>
            </a:r>
            <a:endParaRPr lang="en-US" sz="1850" dirty="0"/>
          </a:p>
        </p:txBody>
      </p:sp>
      <p:sp>
        <p:nvSpPr>
          <p:cNvPr id="5" name="Text 3"/>
          <p:cNvSpPr/>
          <p:nvPr/>
        </p:nvSpPr>
        <p:spPr>
          <a:xfrm>
            <a:off x="850482" y="2900958"/>
            <a:ext cx="4961806"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B4150"/>
                </a:solidFill>
                <a:latin typeface="Source Sans 3" pitchFamily="34" charset="0"/>
                <a:ea typeface="Source Sans 3" pitchFamily="34" charset="-122"/>
                <a:cs typeface="Source Sans 3" pitchFamily="34" charset="-120"/>
              </a:rPr>
              <a:t>Freelance marketplaces generate heterogeneous, interrelated documents such as users, projects, proposals, payments, and AI recommendations. The challenge is to store these original JSON documents efficiently while still supporting robust relational querying for analysis and operational use.</a:t>
            </a:r>
            <a:endParaRPr lang="en-US" sz="1450" dirty="0"/>
          </a:p>
        </p:txBody>
      </p:sp>
      <p:sp>
        <p:nvSpPr>
          <p:cNvPr id="6" name="Shape 4"/>
          <p:cNvSpPr/>
          <p:nvPr/>
        </p:nvSpPr>
        <p:spPr>
          <a:xfrm>
            <a:off x="6190301" y="2303264"/>
            <a:ext cx="5339919" cy="3101876"/>
          </a:xfrm>
          <a:prstGeom prst="roundRect">
            <a:avLst>
              <a:gd name="adj" fmla="val 914"/>
            </a:avLst>
          </a:prstGeom>
          <a:solidFill>
            <a:srgbClr val="F3EEE3"/>
          </a:solidFill>
          <a:ln/>
        </p:spPr>
      </p:sp>
      <p:sp>
        <p:nvSpPr>
          <p:cNvPr id="7" name="Text 5"/>
          <p:cNvSpPr/>
          <p:nvPr/>
        </p:nvSpPr>
        <p:spPr>
          <a:xfrm>
            <a:off x="6379308" y="2492276"/>
            <a:ext cx="4961905" cy="295275"/>
          </a:xfrm>
          <a:prstGeom prst="rect">
            <a:avLst/>
          </a:prstGeom>
          <a:noFill/>
          <a:ln/>
        </p:spPr>
        <p:txBody>
          <a:bodyPr wrap="none" lIns="0" tIns="0" rIns="0" bIns="0" rtlCol="0" anchor="t"/>
          <a:lstStyle/>
          <a:p>
            <a:pPr marL="0" indent="0" algn="l">
              <a:lnSpc>
                <a:spcPct val="104000"/>
              </a:lnSpc>
              <a:buNone/>
            </a:pPr>
            <a:r>
              <a:rPr lang="en-US" sz="1850" dirty="0">
                <a:solidFill>
                  <a:srgbClr val="2B4150"/>
                </a:solidFill>
                <a:latin typeface="MuseoModerno Medium" pitchFamily="34" charset="0"/>
                <a:ea typeface="MuseoModerno Medium" pitchFamily="34" charset="-122"/>
                <a:cs typeface="MuseoModerno Medium" pitchFamily="34" charset="-120"/>
              </a:rPr>
              <a:t>Objectives</a:t>
            </a:r>
            <a:endParaRPr lang="en-US" sz="1850" dirty="0"/>
          </a:p>
        </p:txBody>
      </p:sp>
      <p:sp>
        <p:nvSpPr>
          <p:cNvPr id="8" name="Text 6"/>
          <p:cNvSpPr/>
          <p:nvPr/>
        </p:nvSpPr>
        <p:spPr>
          <a:xfrm>
            <a:off x="6379308" y="2900958"/>
            <a:ext cx="4961905" cy="2315170"/>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2B4150"/>
                </a:solidFill>
                <a:latin typeface="Source Sans 3" pitchFamily="34" charset="0"/>
                <a:ea typeface="Source Sans 3" pitchFamily="34" charset="-122"/>
                <a:cs typeface="Source Sans 3" pitchFamily="34" charset="-120"/>
              </a:rPr>
              <a:t>Preserve the original JSON dataset across 15 entities</a:t>
            </a:r>
            <a:endParaRPr lang="en-US" sz="1450" dirty="0"/>
          </a:p>
          <a:p>
            <a:pPr marL="294640" indent="-294640" algn="l">
              <a:lnSpc>
                <a:spcPct val="133000"/>
              </a:lnSpc>
              <a:buSzPct val="100000"/>
              <a:buChar char="•"/>
            </a:pPr>
            <a:r>
              <a:rPr lang="en-US" sz="1450" dirty="0">
                <a:solidFill>
                  <a:srgbClr val="2B4150"/>
                </a:solidFill>
                <a:latin typeface="Source Sans 3" pitchFamily="34" charset="0"/>
                <a:ea typeface="Source Sans 3" pitchFamily="34" charset="-122"/>
                <a:cs typeface="Source Sans 3" pitchFamily="34" charset="-120"/>
              </a:rPr>
              <a:t>Implement JSONB tables in PostgreSQL and import data using Python</a:t>
            </a:r>
            <a:endParaRPr lang="en-US" sz="1450" dirty="0"/>
          </a:p>
          <a:p>
            <a:pPr marL="294640" indent="-294640" algn="l">
              <a:lnSpc>
                <a:spcPct val="133000"/>
              </a:lnSpc>
              <a:buSzPct val="100000"/>
              <a:buChar char="•"/>
            </a:pPr>
            <a:r>
              <a:rPr lang="en-US" sz="1450" dirty="0">
                <a:solidFill>
                  <a:srgbClr val="2B4150"/>
                </a:solidFill>
                <a:latin typeface="Source Sans 3" pitchFamily="34" charset="0"/>
                <a:ea typeface="Source Sans 3" pitchFamily="34" charset="-122"/>
                <a:cs typeface="Source Sans 3" pitchFamily="34" charset="-120"/>
              </a:rPr>
              <a:t>Demonstrate JSON operators, joins, aggregation, views, procedures, and triggers</a:t>
            </a:r>
            <a:endParaRPr lang="en-US" sz="1450" dirty="0"/>
          </a:p>
          <a:p>
            <a:pPr marL="294640" indent="-294640" algn="l">
              <a:lnSpc>
                <a:spcPct val="133000"/>
              </a:lnSpc>
              <a:buSzPct val="100000"/>
              <a:buChar char="•"/>
            </a:pPr>
            <a:r>
              <a:rPr lang="en-US" sz="1450" dirty="0">
                <a:solidFill>
                  <a:srgbClr val="2B4150"/>
                </a:solidFill>
                <a:latin typeface="Source Sans 3" pitchFamily="34" charset="0"/>
                <a:ea typeface="Source Sans 3" pitchFamily="34" charset="-122"/>
                <a:cs typeface="Source Sans 3" pitchFamily="34" charset="-120"/>
              </a:rPr>
              <a:t>Apply indexing and EXPLAIN ANALYZE to optimize query performance</a:t>
            </a:r>
            <a:endParaRPr lang="en-US" sz="1450" dirty="0"/>
          </a:p>
        </p:txBody>
      </p:sp>
      <p:sp>
        <p:nvSpPr>
          <p:cNvPr id="10" name="Rectangle 9">
            <a:extLst>
              <a:ext uri="{FF2B5EF4-FFF2-40B4-BE49-F238E27FC236}">
                <a16:creationId xmlns:a16="http://schemas.microsoft.com/office/drawing/2014/main" id="{B2FDA754-FA93-9969-F22B-8A601B4C3476}"/>
              </a:ext>
            </a:extLst>
          </p:cNvPr>
          <p:cNvSpPr/>
          <p:nvPr/>
        </p:nvSpPr>
        <p:spPr>
          <a:xfrm>
            <a:off x="11056776" y="6550090"/>
            <a:ext cx="1063689" cy="242596"/>
          </a:xfrm>
          <a:prstGeom prst="rect">
            <a:avLst/>
          </a:prstGeom>
          <a:solidFill>
            <a:srgbClr val="FFFC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CF5"/>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796852"/>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24E73"/>
                </a:solidFill>
                <a:latin typeface="MuseoModerno Medium" pitchFamily="34" charset="0"/>
                <a:ea typeface="MuseoModerno Medium" pitchFamily="34" charset="-122"/>
                <a:cs typeface="MuseoModerno Medium" pitchFamily="34" charset="-120"/>
              </a:rPr>
              <a:t>Continuity from TAE‑1 to TAE‑2</a:t>
            </a:r>
            <a:endParaRPr lang="en-US" sz="2950" dirty="0"/>
          </a:p>
        </p:txBody>
      </p:sp>
      <p:sp>
        <p:nvSpPr>
          <p:cNvPr id="3" name="Text 1"/>
          <p:cNvSpPr/>
          <p:nvPr/>
        </p:nvSpPr>
        <p:spPr>
          <a:xfrm>
            <a:off x="661475" y="2647355"/>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B4150"/>
                </a:solidFill>
                <a:latin typeface="Source Sans 3" pitchFamily="34" charset="0"/>
                <a:ea typeface="Source Sans 3" pitchFamily="34" charset="-122"/>
                <a:cs typeface="Source Sans 3" pitchFamily="34" charset="-120"/>
              </a:rPr>
              <a:t>TAE‑1 established a normalized ER model with 15 entities. This domain is preserved in TAE‑2, which implements the original JSON dataset in PostgreSQL using JSONB while extending the work with advanced SQL features and query optimization.</a:t>
            </a:r>
            <a:endParaRPr lang="en-US" sz="1450" dirty="0"/>
          </a:p>
        </p:txBody>
      </p:sp>
      <p:sp>
        <p:nvSpPr>
          <p:cNvPr id="4" name="Text 2"/>
          <p:cNvSpPr/>
          <p:nvPr/>
        </p:nvSpPr>
        <p:spPr>
          <a:xfrm>
            <a:off x="661475" y="3464818"/>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2B4150"/>
                </a:solidFill>
                <a:latin typeface="MuseoModerno Light" pitchFamily="34" charset="0"/>
                <a:ea typeface="MuseoModerno Light" pitchFamily="34" charset="-122"/>
                <a:cs typeface="MuseoModerno Light" pitchFamily="34" charset="-120"/>
              </a:rPr>
              <a:t>01</a:t>
            </a:r>
            <a:endParaRPr lang="en-US" sz="1450" dirty="0"/>
          </a:p>
        </p:txBody>
      </p:sp>
      <p:sp>
        <p:nvSpPr>
          <p:cNvPr id="5" name="Shape 3"/>
          <p:cNvSpPr/>
          <p:nvPr/>
        </p:nvSpPr>
        <p:spPr>
          <a:xfrm>
            <a:off x="661475" y="3760688"/>
            <a:ext cx="5339820" cy="25400"/>
          </a:xfrm>
          <a:prstGeom prst="rect">
            <a:avLst/>
          </a:prstGeom>
          <a:solidFill>
            <a:srgbClr val="325F7B"/>
          </a:solidFill>
          <a:ln/>
        </p:spPr>
      </p:sp>
      <p:sp>
        <p:nvSpPr>
          <p:cNvPr id="6" name="Text 4"/>
          <p:cNvSpPr/>
          <p:nvPr/>
        </p:nvSpPr>
        <p:spPr>
          <a:xfrm>
            <a:off x="661475" y="3905945"/>
            <a:ext cx="5339820" cy="295275"/>
          </a:xfrm>
          <a:prstGeom prst="rect">
            <a:avLst/>
          </a:prstGeom>
          <a:noFill/>
          <a:ln/>
        </p:spPr>
        <p:txBody>
          <a:bodyPr wrap="none" lIns="0" tIns="0" rIns="0" bIns="0" rtlCol="0" anchor="t"/>
          <a:lstStyle/>
          <a:p>
            <a:pPr marL="0" indent="0" algn="l">
              <a:lnSpc>
                <a:spcPct val="104000"/>
              </a:lnSpc>
              <a:buNone/>
            </a:pPr>
            <a:r>
              <a:rPr lang="en-US" sz="1850" dirty="0">
                <a:solidFill>
                  <a:srgbClr val="2B4150"/>
                </a:solidFill>
                <a:latin typeface="MuseoModerno Medium" pitchFamily="34" charset="0"/>
                <a:ea typeface="MuseoModerno Medium" pitchFamily="34" charset="-122"/>
                <a:cs typeface="MuseoModerno Medium" pitchFamily="34" charset="-120"/>
              </a:rPr>
              <a:t>TAE-1</a:t>
            </a:r>
            <a:endParaRPr lang="en-US" sz="1850" dirty="0"/>
          </a:p>
        </p:txBody>
      </p:sp>
      <p:sp>
        <p:nvSpPr>
          <p:cNvPr id="7" name="Text 5"/>
          <p:cNvSpPr/>
          <p:nvPr/>
        </p:nvSpPr>
        <p:spPr>
          <a:xfrm>
            <a:off x="661475" y="4314627"/>
            <a:ext cx="5339820" cy="302419"/>
          </a:xfrm>
          <a:prstGeom prst="rect">
            <a:avLst/>
          </a:prstGeom>
          <a:noFill/>
          <a:ln/>
        </p:spPr>
        <p:txBody>
          <a:bodyPr wrap="none" lIns="0" tIns="0" rIns="0" bIns="0" rtlCol="0" anchor="t"/>
          <a:lstStyle/>
          <a:p>
            <a:pPr marL="0" indent="0" algn="l">
              <a:lnSpc>
                <a:spcPct val="133000"/>
              </a:lnSpc>
              <a:buNone/>
            </a:pPr>
            <a:r>
              <a:rPr lang="en-US" sz="1450" dirty="0">
                <a:solidFill>
                  <a:srgbClr val="2B4150"/>
                </a:solidFill>
                <a:latin typeface="Source Sans 3" pitchFamily="34" charset="0"/>
                <a:ea typeface="Source Sans 3" pitchFamily="34" charset="-122"/>
                <a:cs typeface="Source Sans 3" pitchFamily="34" charset="-120"/>
              </a:rPr>
              <a:t>ER diagram → 15 entities → normalized relational schema</a:t>
            </a:r>
            <a:endParaRPr lang="en-US" sz="1450" dirty="0"/>
          </a:p>
        </p:txBody>
      </p:sp>
      <p:sp>
        <p:nvSpPr>
          <p:cNvPr id="8" name="Text 6"/>
          <p:cNvSpPr/>
          <p:nvPr/>
        </p:nvSpPr>
        <p:spPr>
          <a:xfrm>
            <a:off x="6190301" y="3464818"/>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2B4150"/>
                </a:solidFill>
                <a:latin typeface="MuseoModerno Light" pitchFamily="34" charset="0"/>
                <a:ea typeface="MuseoModerno Light" pitchFamily="34" charset="-122"/>
                <a:cs typeface="MuseoModerno Light" pitchFamily="34" charset="-120"/>
              </a:rPr>
              <a:t>02</a:t>
            </a:r>
            <a:endParaRPr lang="en-US" sz="1450" dirty="0"/>
          </a:p>
        </p:txBody>
      </p:sp>
      <p:sp>
        <p:nvSpPr>
          <p:cNvPr id="9" name="Shape 7"/>
          <p:cNvSpPr/>
          <p:nvPr/>
        </p:nvSpPr>
        <p:spPr>
          <a:xfrm>
            <a:off x="6190301" y="3760688"/>
            <a:ext cx="5339919" cy="25400"/>
          </a:xfrm>
          <a:prstGeom prst="rect">
            <a:avLst/>
          </a:prstGeom>
          <a:solidFill>
            <a:srgbClr val="325F7B"/>
          </a:solidFill>
          <a:ln/>
        </p:spPr>
      </p:sp>
      <p:sp>
        <p:nvSpPr>
          <p:cNvPr id="10" name="Text 8"/>
          <p:cNvSpPr/>
          <p:nvPr/>
        </p:nvSpPr>
        <p:spPr>
          <a:xfrm>
            <a:off x="6190301" y="3905945"/>
            <a:ext cx="5339919" cy="295275"/>
          </a:xfrm>
          <a:prstGeom prst="rect">
            <a:avLst/>
          </a:prstGeom>
          <a:noFill/>
          <a:ln/>
        </p:spPr>
        <p:txBody>
          <a:bodyPr wrap="none" lIns="0" tIns="0" rIns="0" bIns="0" rtlCol="0" anchor="t"/>
          <a:lstStyle/>
          <a:p>
            <a:pPr marL="0" indent="0" algn="l">
              <a:lnSpc>
                <a:spcPct val="104000"/>
              </a:lnSpc>
              <a:buNone/>
            </a:pPr>
            <a:r>
              <a:rPr lang="en-US" sz="1850" dirty="0">
                <a:solidFill>
                  <a:srgbClr val="2B4150"/>
                </a:solidFill>
                <a:latin typeface="MuseoModerno Medium" pitchFamily="34" charset="0"/>
                <a:ea typeface="MuseoModerno Medium" pitchFamily="34" charset="-122"/>
                <a:cs typeface="MuseoModerno Medium" pitchFamily="34" charset="-120"/>
              </a:rPr>
              <a:t>TAE-2</a:t>
            </a:r>
            <a:endParaRPr lang="en-US" sz="1850" dirty="0"/>
          </a:p>
        </p:txBody>
      </p:sp>
      <p:sp>
        <p:nvSpPr>
          <p:cNvPr id="11" name="Text 9"/>
          <p:cNvSpPr/>
          <p:nvPr/>
        </p:nvSpPr>
        <p:spPr>
          <a:xfrm>
            <a:off x="6190301" y="4314627"/>
            <a:ext cx="533991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B4150"/>
                </a:solidFill>
                <a:latin typeface="Source Sans 3" pitchFamily="34" charset="0"/>
                <a:ea typeface="Source Sans 3" pitchFamily="34" charset="-122"/>
                <a:cs typeface="Source Sans 3" pitchFamily="34" charset="-120"/>
              </a:rPr>
              <a:t>Original JSON files → PostgreSQL JSONB tables → advanced queries, indexing, views, procedures, and triggers</a:t>
            </a:r>
            <a:endParaRPr lang="en-US" sz="1450" dirty="0"/>
          </a:p>
        </p:txBody>
      </p:sp>
      <p:sp>
        <p:nvSpPr>
          <p:cNvPr id="13" name="Rectangle 12">
            <a:extLst>
              <a:ext uri="{FF2B5EF4-FFF2-40B4-BE49-F238E27FC236}">
                <a16:creationId xmlns:a16="http://schemas.microsoft.com/office/drawing/2014/main" id="{F3C4F670-56EB-2FB3-62C6-EC198DE80990}"/>
              </a:ext>
            </a:extLst>
          </p:cNvPr>
          <p:cNvSpPr/>
          <p:nvPr/>
        </p:nvSpPr>
        <p:spPr>
          <a:xfrm>
            <a:off x="11056776" y="6550090"/>
            <a:ext cx="1063689" cy="242596"/>
          </a:xfrm>
          <a:prstGeom prst="rect">
            <a:avLst/>
          </a:prstGeom>
          <a:solidFill>
            <a:srgbClr val="FFFC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CF5"/>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851892"/>
            <a:ext cx="10868745" cy="307181"/>
          </a:xfrm>
          <a:prstGeom prst="rect">
            <a:avLst/>
          </a:prstGeom>
          <a:noFill/>
          <a:ln/>
        </p:spPr>
        <p:txBody>
          <a:bodyPr wrap="none" lIns="0" tIns="0" rIns="0" bIns="0" rtlCol="0" anchor="t"/>
          <a:lstStyle/>
          <a:p>
            <a:pPr marL="0" indent="0" algn="l">
              <a:lnSpc>
                <a:spcPct val="104000"/>
              </a:lnSpc>
              <a:buNone/>
            </a:pPr>
            <a:r>
              <a:rPr lang="en-US" sz="1900" dirty="0">
                <a:solidFill>
                  <a:srgbClr val="124E73"/>
                </a:solidFill>
                <a:latin typeface="MuseoModerno Medium" pitchFamily="34" charset="0"/>
                <a:ea typeface="MuseoModerno Medium" pitchFamily="34" charset="-122"/>
                <a:cs typeface="MuseoModerno Medium" pitchFamily="34" charset="-120"/>
              </a:rPr>
              <a:t>Dataset Design — 15 JSON Files</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61475" y="1318716"/>
          <a:ext cx="10868746" cy="4422658"/>
        </p:xfrm>
        <a:graphic>
          <a:graphicData uri="http://schemas.openxmlformats.org/drawingml/2006/table">
            <a:tbl>
              <a:tblPr/>
              <a:tblGrid>
                <a:gridCol w="5434373">
                  <a:extLst>
                    <a:ext uri="{9D8B030D-6E8A-4147-A177-3AD203B41FA5}">
                      <a16:colId xmlns:a16="http://schemas.microsoft.com/office/drawing/2014/main" val="20000"/>
                    </a:ext>
                  </a:extLst>
                </a:gridCol>
                <a:gridCol w="5434373">
                  <a:extLst>
                    <a:ext uri="{9D8B030D-6E8A-4147-A177-3AD203B41FA5}">
                      <a16:colId xmlns:a16="http://schemas.microsoft.com/office/drawing/2014/main" val="20001"/>
                    </a:ext>
                  </a:extLst>
                </a:gridCol>
              </a:tblGrid>
              <a:tr h="273638">
                <a:tc>
                  <a:txBody>
                    <a:bodyPr/>
                    <a:lstStyle/>
                    <a:p>
                      <a:pPr marL="0" indent="0">
                        <a:buNone/>
                      </a:pPr>
                      <a:r>
                        <a:rPr lang="en-US" sz="950" b="1" dirty="0">
                          <a:solidFill>
                            <a:srgbClr val="2B4150"/>
                          </a:solidFill>
                          <a:latin typeface="Source Sans 3" pitchFamily="34" charset="0"/>
                          <a:ea typeface="Source Sans 3" pitchFamily="34" charset="-122"/>
                          <a:cs typeface="Source Sans 3" pitchFamily="34" charset="-120"/>
                        </a:rPr>
                        <a:t>Entity (JSON file)</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b="1" dirty="0">
                          <a:solidFill>
                            <a:srgbClr val="2B4150"/>
                          </a:solidFill>
                          <a:latin typeface="Source Sans 3" pitchFamily="34" charset="0"/>
                          <a:ea typeface="Source Sans 3" pitchFamily="34" charset="-122"/>
                          <a:cs typeface="Source Sans 3" pitchFamily="34" charset="-120"/>
                        </a:rPr>
                        <a:t>Record count</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00"/>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Users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80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01"/>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Clients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30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02"/>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Freelancers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50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03"/>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Skills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30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04"/>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Freelancer Skills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170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05"/>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Categories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10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06"/>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Projects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60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07"/>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Project Skills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150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08"/>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Proposals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240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09"/>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Contracts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44</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10"/>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Payments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80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11"/>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Reviews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90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12"/>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Portfolio</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100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13"/>
                  </a:ext>
                </a:extLst>
              </a:tr>
              <a:tr h="276813">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Notifications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250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14"/>
                  </a:ext>
                </a:extLst>
              </a:tr>
              <a:tr h="273638">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AI Recommendations</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D9D4C9"/>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tc>
                  <a:txBody>
                    <a:bodyPr/>
                    <a:lstStyle/>
                    <a:p>
                      <a:pPr marL="0" indent="0">
                        <a:buNone/>
                      </a:pPr>
                      <a:r>
                        <a:rPr lang="en-US" sz="950" dirty="0">
                          <a:solidFill>
                            <a:srgbClr val="2B4150"/>
                          </a:solidFill>
                          <a:latin typeface="Source Sans 3" pitchFamily="34" charset="0"/>
                          <a:ea typeface="Source Sans 3" pitchFamily="34" charset="-122"/>
                          <a:cs typeface="Source Sans 3" pitchFamily="34" charset="-120"/>
                        </a:rPr>
                        <a:t>180</a:t>
                      </a:r>
                      <a:endParaRPr lang="en-US" sz="950" dirty="0">
                        <a:latin typeface="Source Sans 3" charset="0"/>
                        <a:ea typeface="Source Sans 3" charset="0"/>
                        <a:cs typeface="Source Sans 3" charset="0"/>
                      </a:endParaRPr>
                    </a:p>
                  </a:txBody>
                  <a:tcPr marL="122862" marR="122862" marT="6350" marB="6350" anchor="ctr">
                    <a:lnL w="12700" cap="flat" cmpd="sng" algn="ctr">
                      <a:solidFill>
                        <a:srgbClr val="FFFCF5"/>
                      </a:solidFill>
                      <a:prstDash val="solid"/>
                      <a:round/>
                      <a:headEnd type="none" w="med" len="med"/>
                      <a:tailEnd type="none" w="med" len="med"/>
                    </a:lnL>
                    <a:lnR w="12700" cap="flat" cmpd="sng" algn="ctr">
                      <a:solidFill>
                        <a:srgbClr val="D9D4C9"/>
                      </a:solidFill>
                      <a:prstDash val="solid"/>
                      <a:round/>
                      <a:headEnd type="none" w="med" len="med"/>
                      <a:tailEnd type="none" w="med" len="med"/>
                    </a:lnR>
                    <a:lnT w="12700" cap="flat" cmpd="sng" algn="ctr">
                      <a:solidFill>
                        <a:srgbClr val="D9D4C9"/>
                      </a:solidFill>
                      <a:prstDash val="solid"/>
                      <a:round/>
                      <a:headEnd type="none" w="med" len="med"/>
                      <a:tailEnd type="none" w="med" len="med"/>
                    </a:lnT>
                    <a:lnB w="12700" cap="flat" cmpd="sng" algn="ctr">
                      <a:solidFill>
                        <a:srgbClr val="D9D4C9"/>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4" name="Text 1"/>
          <p:cNvSpPr/>
          <p:nvPr/>
        </p:nvSpPr>
        <p:spPr>
          <a:xfrm>
            <a:off x="661475" y="5843984"/>
            <a:ext cx="11478330" cy="162123"/>
          </a:xfrm>
          <a:prstGeom prst="rect">
            <a:avLst/>
          </a:prstGeom>
          <a:noFill/>
          <a:ln/>
        </p:spPr>
        <p:txBody>
          <a:bodyPr wrap="none" lIns="0" tIns="0" rIns="0" bIns="0" rtlCol="0" anchor="t"/>
          <a:lstStyle/>
          <a:p>
            <a:pPr marL="0" indent="0" algn="l">
              <a:lnSpc>
                <a:spcPct val="110000"/>
              </a:lnSpc>
              <a:buNone/>
            </a:pPr>
            <a:r>
              <a:rPr lang="en-US" sz="950" b="1" dirty="0">
                <a:solidFill>
                  <a:srgbClr val="2B4150"/>
                </a:solidFill>
                <a:latin typeface="Source Sans 3 Bold" pitchFamily="34" charset="0"/>
                <a:ea typeface="Source Sans 3 Bold" pitchFamily="34" charset="-122"/>
                <a:cs typeface="Source Sans 3 Bold" pitchFamily="34" charset="-120"/>
              </a:rPr>
              <a:t>Total JSON records:</a:t>
            </a:r>
            <a:r>
              <a:rPr lang="en-US" sz="950" dirty="0">
                <a:solidFill>
                  <a:srgbClr val="2B4150"/>
                </a:solidFill>
                <a:latin typeface="Source Sans 3" pitchFamily="34" charset="0"/>
                <a:ea typeface="Source Sans 3" pitchFamily="34" charset="-122"/>
                <a:cs typeface="Source Sans 3" pitchFamily="34" charset="-120"/>
              </a:rPr>
              <a:t> 1594</a:t>
            </a:r>
            <a:endParaRPr lang="en-US" sz="950" dirty="0"/>
          </a:p>
        </p:txBody>
      </p:sp>
      <p:sp>
        <p:nvSpPr>
          <p:cNvPr id="6" name="Rectangle 5">
            <a:extLst>
              <a:ext uri="{FF2B5EF4-FFF2-40B4-BE49-F238E27FC236}">
                <a16:creationId xmlns:a16="http://schemas.microsoft.com/office/drawing/2014/main" id="{37C027B7-7A05-B66D-3639-587F91DBBD6F}"/>
              </a:ext>
            </a:extLst>
          </p:cNvPr>
          <p:cNvSpPr/>
          <p:nvPr/>
        </p:nvSpPr>
        <p:spPr>
          <a:xfrm>
            <a:off x="11056776" y="6550090"/>
            <a:ext cx="1063689" cy="242596"/>
          </a:xfrm>
          <a:prstGeom prst="rect">
            <a:avLst/>
          </a:prstGeom>
          <a:solidFill>
            <a:srgbClr val="FFFC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CF5"/>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550120"/>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24E73"/>
                </a:solidFill>
                <a:latin typeface="MuseoModerno Medium" pitchFamily="34" charset="0"/>
                <a:ea typeface="MuseoModerno Medium" pitchFamily="34" charset="-122"/>
                <a:cs typeface="MuseoModerno Medium" pitchFamily="34" charset="-120"/>
              </a:rPr>
              <a:t>JSONB Architecture</a:t>
            </a:r>
            <a:endParaRPr lang="en-US" sz="2950" dirty="0"/>
          </a:p>
        </p:txBody>
      </p:sp>
      <p:sp>
        <p:nvSpPr>
          <p:cNvPr id="3" name="Text 1"/>
          <p:cNvSpPr/>
          <p:nvPr/>
        </p:nvSpPr>
        <p:spPr>
          <a:xfrm>
            <a:off x="661475" y="3400623"/>
            <a:ext cx="1086874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B4150"/>
                </a:solidFill>
                <a:latin typeface="Source Sans 3" pitchFamily="34" charset="0"/>
                <a:ea typeface="Source Sans 3" pitchFamily="34" charset="-122"/>
                <a:cs typeface="Source Sans 3" pitchFamily="34" charset="-120"/>
              </a:rPr>
              <a:t>Overview of the data flow: 15 JSON files are ingested by a Python importer and loaded into 15 PostgreSQL JSONB tables, one per file. From there, JSON operators and functions support advanced SQL operations, including views, stored procedures, triggers, and indexes, with EXPLAIN ANALYZE used to evaluate and optimize performance.</a:t>
            </a:r>
            <a:endParaRPr lang="en-US" sz="1450" dirty="0"/>
          </a:p>
        </p:txBody>
      </p:sp>
      <p:sp>
        <p:nvSpPr>
          <p:cNvPr id="5" name="Rectangle 4">
            <a:extLst>
              <a:ext uri="{FF2B5EF4-FFF2-40B4-BE49-F238E27FC236}">
                <a16:creationId xmlns:a16="http://schemas.microsoft.com/office/drawing/2014/main" id="{BB34CBF1-6B04-69BB-F615-AE12B9464D6D}"/>
              </a:ext>
            </a:extLst>
          </p:cNvPr>
          <p:cNvSpPr/>
          <p:nvPr/>
        </p:nvSpPr>
        <p:spPr>
          <a:xfrm>
            <a:off x="11056776" y="6550090"/>
            <a:ext cx="1063689" cy="242596"/>
          </a:xfrm>
          <a:prstGeom prst="rect">
            <a:avLst/>
          </a:prstGeom>
          <a:solidFill>
            <a:srgbClr val="FFFC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CF5"/>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694855"/>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24E73"/>
                </a:solidFill>
                <a:latin typeface="MuseoModerno Medium" pitchFamily="34" charset="0"/>
                <a:ea typeface="MuseoModerno Medium" pitchFamily="34" charset="-122"/>
                <a:cs typeface="MuseoModerno Medium" pitchFamily="34" charset="-120"/>
              </a:rPr>
              <a:t>PostgreSQL JSONB Implementation</a:t>
            </a:r>
            <a:endParaRPr lang="en-US" sz="2950" dirty="0"/>
          </a:p>
        </p:txBody>
      </p:sp>
      <p:sp>
        <p:nvSpPr>
          <p:cNvPr id="3" name="Text 1"/>
          <p:cNvSpPr/>
          <p:nvPr/>
        </p:nvSpPr>
        <p:spPr>
          <a:xfrm>
            <a:off x="661475" y="2545358"/>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2B4150"/>
                </a:solidFill>
                <a:latin typeface="Source Sans 3" pitchFamily="34" charset="0"/>
                <a:ea typeface="Source Sans 3" pitchFamily="34" charset="-122"/>
                <a:cs typeface="Source Sans 3" pitchFamily="34" charset="-120"/>
              </a:rPr>
              <a:t>Each JSON file is stored in its own table using the following schema:</a:t>
            </a:r>
            <a:endParaRPr lang="en-US" sz="1450" dirty="0"/>
          </a:p>
        </p:txBody>
      </p:sp>
      <p:sp>
        <p:nvSpPr>
          <p:cNvPr id="4" name="Shape 2"/>
          <p:cNvSpPr/>
          <p:nvPr/>
        </p:nvSpPr>
        <p:spPr>
          <a:xfrm>
            <a:off x="661475" y="3060402"/>
            <a:ext cx="10868745" cy="1587698"/>
          </a:xfrm>
          <a:prstGeom prst="roundRect">
            <a:avLst>
              <a:gd name="adj" fmla="val 1786"/>
            </a:avLst>
          </a:prstGeom>
          <a:solidFill>
            <a:srgbClr val="F2EFE8"/>
          </a:solidFill>
          <a:ln/>
        </p:spPr>
      </p:sp>
      <p:sp>
        <p:nvSpPr>
          <p:cNvPr id="5" name="Text 3"/>
          <p:cNvSpPr/>
          <p:nvPr/>
        </p:nvSpPr>
        <p:spPr>
          <a:xfrm>
            <a:off x="888283" y="3249414"/>
            <a:ext cx="10415129"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120"/>
              </a:rPr>
              <a:t>CREATE TABLE users_json (</a:t>
            </a:r>
            <a:endParaRPr lang="en-US" sz="1450" dirty="0"/>
          </a:p>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120"/>
              </a:rPr>
              <a:t>  record_id SERIAL PRIMARY KEY,</a:t>
            </a:r>
            <a:endParaRPr lang="en-US" sz="1450" dirty="0"/>
          </a:p>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120"/>
              </a:rPr>
              <a:t>  data JSONB NOT NULL</a:t>
            </a:r>
            <a:endParaRPr lang="en-US" sz="1450" dirty="0"/>
          </a:p>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p:txBody>
      </p:sp>
      <p:sp>
        <p:nvSpPr>
          <p:cNvPr id="6" name="Text 4"/>
          <p:cNvSpPr/>
          <p:nvPr/>
        </p:nvSpPr>
        <p:spPr>
          <a:xfrm>
            <a:off x="661475" y="4860727"/>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2B4150"/>
                </a:solidFill>
                <a:latin typeface="Source Sans 3" pitchFamily="34" charset="0"/>
                <a:ea typeface="Source Sans 3" pitchFamily="34" charset="-122"/>
                <a:cs typeface="Source Sans 3" pitchFamily="34" charset="-120"/>
              </a:rPr>
              <a:t>The full JSON object is preserved in the </a:t>
            </a:r>
            <a:r>
              <a:rPr lang="en-US" sz="1450" b="1" dirty="0">
                <a:solidFill>
                  <a:srgbClr val="2B4150"/>
                </a:solidFill>
                <a:latin typeface="Source Sans 3 Bold" pitchFamily="34" charset="0"/>
                <a:ea typeface="Source Sans 3 Bold" pitchFamily="34" charset="-122"/>
                <a:cs typeface="Source Sans 3 Bold" pitchFamily="34" charset="-120"/>
              </a:rPr>
              <a:t>data</a:t>
            </a:r>
            <a:r>
              <a:rPr lang="en-US" sz="1450" dirty="0">
                <a:solidFill>
                  <a:srgbClr val="2B4150"/>
                </a:solidFill>
                <a:latin typeface="Source Sans 3" pitchFamily="34" charset="0"/>
                <a:ea typeface="Source Sans 3" pitchFamily="34" charset="-122"/>
                <a:cs typeface="Source Sans 3" pitchFamily="34" charset="-120"/>
              </a:rPr>
              <a:t> column. Use the operators </a:t>
            </a:r>
            <a:r>
              <a:rPr lang="en-US" sz="1450" b="1" dirty="0">
                <a:solidFill>
                  <a:srgbClr val="2B4150"/>
                </a:solidFill>
                <a:latin typeface="Source Sans 3 Bold" pitchFamily="34" charset="0"/>
                <a:ea typeface="Source Sans 3 Bold" pitchFamily="34" charset="-122"/>
                <a:cs typeface="Source Sans 3 Bold" pitchFamily="34" charset="-120"/>
              </a:rPr>
              <a:t>data -&gt; 'field'</a:t>
            </a:r>
            <a:r>
              <a:rPr lang="en-US" sz="1450" dirty="0">
                <a:solidFill>
                  <a:srgbClr val="2B4150"/>
                </a:solidFill>
                <a:latin typeface="Source Sans 3" pitchFamily="34" charset="0"/>
                <a:ea typeface="Source Sans 3" pitchFamily="34" charset="-122"/>
                <a:cs typeface="Source Sans 3" pitchFamily="34" charset="-120"/>
              </a:rPr>
              <a:t> to return JSON and </a:t>
            </a:r>
            <a:r>
              <a:rPr lang="en-US" sz="1450" b="1" dirty="0">
                <a:solidFill>
                  <a:srgbClr val="2B4150"/>
                </a:solidFill>
                <a:latin typeface="Source Sans 3 Bold" pitchFamily="34" charset="0"/>
                <a:ea typeface="Source Sans 3 Bold" pitchFamily="34" charset="-122"/>
                <a:cs typeface="Source Sans 3 Bold" pitchFamily="34" charset="-120"/>
              </a:rPr>
              <a:t>data -&gt;&gt; 'field'</a:t>
            </a:r>
            <a:r>
              <a:rPr lang="en-US" sz="1450" dirty="0">
                <a:solidFill>
                  <a:srgbClr val="2B4150"/>
                </a:solidFill>
                <a:latin typeface="Source Sans 3" pitchFamily="34" charset="0"/>
                <a:ea typeface="Source Sans 3" pitchFamily="34" charset="-122"/>
                <a:cs typeface="Source Sans 3" pitchFamily="34" charset="-120"/>
              </a:rPr>
              <a:t> to return text.</a:t>
            </a:r>
            <a:endParaRPr lang="en-US" sz="1450" dirty="0"/>
          </a:p>
        </p:txBody>
      </p:sp>
      <p:sp>
        <p:nvSpPr>
          <p:cNvPr id="8" name="Rectangle 7">
            <a:extLst>
              <a:ext uri="{FF2B5EF4-FFF2-40B4-BE49-F238E27FC236}">
                <a16:creationId xmlns:a16="http://schemas.microsoft.com/office/drawing/2014/main" id="{1AABAD9A-928C-437F-E52E-F1C41462D1A0}"/>
              </a:ext>
            </a:extLst>
          </p:cNvPr>
          <p:cNvSpPr/>
          <p:nvPr/>
        </p:nvSpPr>
        <p:spPr>
          <a:xfrm>
            <a:off x="11056776" y="6550090"/>
            <a:ext cx="1063689" cy="242596"/>
          </a:xfrm>
          <a:prstGeom prst="rect">
            <a:avLst/>
          </a:prstGeom>
          <a:solidFill>
            <a:srgbClr val="FFFC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CF5"/>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28166"/>
            <a:ext cx="10868745" cy="378023"/>
          </a:xfrm>
          <a:prstGeom prst="rect">
            <a:avLst/>
          </a:prstGeom>
          <a:noFill/>
          <a:ln/>
        </p:spPr>
        <p:txBody>
          <a:bodyPr wrap="none" lIns="0" tIns="0" rIns="0" bIns="0" rtlCol="0" anchor="t"/>
          <a:lstStyle/>
          <a:p>
            <a:pPr marL="0" indent="0" algn="l">
              <a:lnSpc>
                <a:spcPct val="104000"/>
              </a:lnSpc>
              <a:buNone/>
            </a:pPr>
            <a:r>
              <a:rPr lang="en-US" sz="2350" dirty="0">
                <a:solidFill>
                  <a:srgbClr val="124E73"/>
                </a:solidFill>
                <a:latin typeface="MuseoModerno Medium" pitchFamily="34" charset="0"/>
                <a:ea typeface="MuseoModerno Medium" pitchFamily="34" charset="-122"/>
                <a:cs typeface="MuseoModerno Medium" pitchFamily="34" charset="-120"/>
              </a:rPr>
              <a:t>Advanced SQL Queries</a:t>
            </a:r>
            <a:endParaRPr lang="en-US" sz="2350" dirty="0"/>
          </a:p>
        </p:txBody>
      </p:sp>
      <p:sp>
        <p:nvSpPr>
          <p:cNvPr id="3" name="Shape 1"/>
          <p:cNvSpPr/>
          <p:nvPr/>
        </p:nvSpPr>
        <p:spPr>
          <a:xfrm>
            <a:off x="661475" y="1348085"/>
            <a:ext cx="340213" cy="340221"/>
          </a:xfrm>
          <a:prstGeom prst="roundRect">
            <a:avLst>
              <a:gd name="adj" fmla="val 6667"/>
            </a:avLst>
          </a:prstGeom>
          <a:solidFill>
            <a:srgbClr val="F3EEE3"/>
          </a:solidFill>
          <a:ln/>
        </p:spPr>
      </p:sp>
      <p:sp>
        <p:nvSpPr>
          <p:cNvPr id="4" name="Text 2"/>
          <p:cNvSpPr/>
          <p:nvPr/>
        </p:nvSpPr>
        <p:spPr>
          <a:xfrm>
            <a:off x="1122632" y="1399977"/>
            <a:ext cx="10407588" cy="236240"/>
          </a:xfrm>
          <a:prstGeom prst="rect">
            <a:avLst/>
          </a:prstGeom>
          <a:noFill/>
          <a:ln/>
        </p:spPr>
        <p:txBody>
          <a:bodyPr wrap="none" lIns="0" tIns="0" rIns="0" bIns="0" rtlCol="0" anchor="t"/>
          <a:lstStyle/>
          <a:p>
            <a:pPr marL="0" indent="0" algn="l">
              <a:lnSpc>
                <a:spcPct val="104000"/>
              </a:lnSpc>
              <a:buNone/>
            </a:pPr>
            <a:r>
              <a:rPr lang="en-US" sz="1450" dirty="0">
                <a:solidFill>
                  <a:srgbClr val="2B4150"/>
                </a:solidFill>
                <a:latin typeface="MuseoModerno Medium" pitchFamily="34" charset="0"/>
                <a:ea typeface="MuseoModerno Medium" pitchFamily="34" charset="-122"/>
                <a:cs typeface="MuseoModerno Medium" pitchFamily="34" charset="-120"/>
              </a:rPr>
              <a:t>Query categories</a:t>
            </a:r>
            <a:endParaRPr lang="en-US" sz="1450" dirty="0"/>
          </a:p>
        </p:txBody>
      </p:sp>
      <p:sp>
        <p:nvSpPr>
          <p:cNvPr id="5" name="Text 3"/>
          <p:cNvSpPr/>
          <p:nvPr/>
        </p:nvSpPr>
        <p:spPr>
          <a:xfrm>
            <a:off x="1122632" y="1708745"/>
            <a:ext cx="10407588" cy="1517452"/>
          </a:xfrm>
          <a:prstGeom prst="rect">
            <a:avLst/>
          </a:prstGeom>
          <a:noFill/>
          <a:ln/>
        </p:spPr>
        <p:txBody>
          <a:bodyPr wrap="square" lIns="0" tIns="0" rIns="0" bIns="0" rtlCol="0" anchor="t">
            <a:normAutofit/>
          </a:bodyPr>
          <a:lstStyle/>
          <a:p>
            <a:pPr marL="233680" indent="-233680" algn="l">
              <a:lnSpc>
                <a:spcPct val="120000"/>
              </a:lnSpc>
              <a:buSzPct val="100000"/>
              <a:buChar char="•"/>
            </a:pPr>
            <a:r>
              <a:rPr lang="en-US" sz="1150" dirty="0">
                <a:solidFill>
                  <a:srgbClr val="2B4150"/>
                </a:solidFill>
                <a:latin typeface="Source Sans 3" pitchFamily="34" charset="0"/>
                <a:ea typeface="Source Sans 3" pitchFamily="34" charset="-122"/>
                <a:cs typeface="Source Sans 3" pitchFamily="34" charset="-120"/>
              </a:rPr>
              <a:t>JSON extraction and filtering</a:t>
            </a:r>
            <a:endParaRPr lang="en-US" sz="1150" dirty="0"/>
          </a:p>
          <a:p>
            <a:pPr marL="233680" indent="-233680" algn="l">
              <a:lnSpc>
                <a:spcPct val="120000"/>
              </a:lnSpc>
              <a:buSzPct val="100000"/>
              <a:buChar char="•"/>
            </a:pPr>
            <a:r>
              <a:rPr lang="en-US" sz="1150" dirty="0">
                <a:solidFill>
                  <a:srgbClr val="2B4150"/>
                </a:solidFill>
                <a:latin typeface="Source Sans 3" pitchFamily="34" charset="0"/>
                <a:ea typeface="Source Sans 3" pitchFamily="34" charset="-122"/>
                <a:cs typeface="Source Sans 3" pitchFamily="34" charset="-120"/>
              </a:rPr>
              <a:t>Numeric conversion from JSON values</a:t>
            </a:r>
            <a:endParaRPr lang="en-US" sz="1150" dirty="0"/>
          </a:p>
          <a:p>
            <a:pPr marL="233680" indent="-233680" algn="l">
              <a:lnSpc>
                <a:spcPct val="120000"/>
              </a:lnSpc>
              <a:buSzPct val="100000"/>
              <a:buChar char="•"/>
            </a:pPr>
            <a:r>
              <a:rPr lang="en-US" sz="1150" dirty="0">
                <a:solidFill>
                  <a:srgbClr val="2B4150"/>
                </a:solidFill>
                <a:latin typeface="Source Sans 3" pitchFamily="34" charset="0"/>
                <a:ea typeface="Source Sans 3" pitchFamily="34" charset="-122"/>
                <a:cs typeface="Source Sans 3" pitchFamily="34" charset="-120"/>
              </a:rPr>
              <a:t>Multi-table JOINs, including INNER, LEFT, and four-table joins</a:t>
            </a:r>
            <a:endParaRPr lang="en-US" sz="1150" dirty="0"/>
          </a:p>
          <a:p>
            <a:pPr marL="233680" indent="-233680" algn="l">
              <a:lnSpc>
                <a:spcPct val="120000"/>
              </a:lnSpc>
              <a:buSzPct val="100000"/>
              <a:buChar char="•"/>
            </a:pPr>
            <a:r>
              <a:rPr lang="en-US" sz="1150" dirty="0">
                <a:solidFill>
                  <a:srgbClr val="2B4150"/>
                </a:solidFill>
                <a:latin typeface="Source Sans 3" pitchFamily="34" charset="0"/>
                <a:ea typeface="Source Sans 3" pitchFamily="34" charset="-122"/>
                <a:cs typeface="Source Sans 3" pitchFamily="34" charset="-120"/>
              </a:rPr>
              <a:t>Aggregation with GROUP BY and HAVING</a:t>
            </a:r>
            <a:endParaRPr lang="en-US" sz="1150" dirty="0"/>
          </a:p>
          <a:p>
            <a:pPr marL="233680" indent="-233680" algn="l">
              <a:lnSpc>
                <a:spcPct val="120000"/>
              </a:lnSpc>
              <a:buSzPct val="100000"/>
              <a:buChar char="•"/>
            </a:pPr>
            <a:r>
              <a:rPr lang="en-US" sz="1150" dirty="0">
                <a:solidFill>
                  <a:srgbClr val="2B4150"/>
                </a:solidFill>
                <a:latin typeface="Source Sans 3" pitchFamily="34" charset="0"/>
                <a:ea typeface="Source Sans 3" pitchFamily="34" charset="-122"/>
                <a:cs typeface="Source Sans 3" pitchFamily="34" charset="-120"/>
              </a:rPr>
              <a:t>Correlated subqueries, views, procedures, and triggers</a:t>
            </a:r>
            <a:endParaRPr lang="en-US" sz="1150" dirty="0"/>
          </a:p>
          <a:p>
            <a:pPr marL="233680" indent="-233680" algn="l">
              <a:lnSpc>
                <a:spcPct val="120000"/>
              </a:lnSpc>
              <a:buSzPct val="100000"/>
              <a:buChar char="•"/>
            </a:pPr>
            <a:r>
              <a:rPr lang="en-US" sz="1150" dirty="0">
                <a:solidFill>
                  <a:srgbClr val="2B4150"/>
                </a:solidFill>
                <a:latin typeface="Source Sans 3" pitchFamily="34" charset="0"/>
                <a:ea typeface="Source Sans 3" pitchFamily="34" charset="-122"/>
                <a:cs typeface="Source Sans 3" pitchFamily="34" charset="-120"/>
              </a:rPr>
              <a:t>AI-based recommendation filtering</a:t>
            </a:r>
            <a:endParaRPr lang="en-US" sz="1150" dirty="0"/>
          </a:p>
        </p:txBody>
      </p:sp>
      <p:sp>
        <p:nvSpPr>
          <p:cNvPr id="6" name="Shape 4"/>
          <p:cNvSpPr/>
          <p:nvPr/>
        </p:nvSpPr>
        <p:spPr>
          <a:xfrm>
            <a:off x="661475" y="3468092"/>
            <a:ext cx="340213" cy="340221"/>
          </a:xfrm>
          <a:prstGeom prst="roundRect">
            <a:avLst>
              <a:gd name="adj" fmla="val 6667"/>
            </a:avLst>
          </a:prstGeom>
          <a:solidFill>
            <a:srgbClr val="F3EEE3"/>
          </a:solidFill>
          <a:ln/>
        </p:spPr>
      </p:sp>
      <p:sp>
        <p:nvSpPr>
          <p:cNvPr id="7" name="Text 5"/>
          <p:cNvSpPr/>
          <p:nvPr/>
        </p:nvSpPr>
        <p:spPr>
          <a:xfrm>
            <a:off x="1122632" y="3519984"/>
            <a:ext cx="10407588" cy="236240"/>
          </a:xfrm>
          <a:prstGeom prst="rect">
            <a:avLst/>
          </a:prstGeom>
          <a:noFill/>
          <a:ln/>
        </p:spPr>
        <p:txBody>
          <a:bodyPr wrap="none" lIns="0" tIns="0" rIns="0" bIns="0" rtlCol="0" anchor="t"/>
          <a:lstStyle/>
          <a:p>
            <a:pPr marL="0" indent="0" algn="l">
              <a:lnSpc>
                <a:spcPct val="104000"/>
              </a:lnSpc>
              <a:buNone/>
            </a:pPr>
            <a:r>
              <a:rPr lang="en-US" sz="1450" dirty="0">
                <a:solidFill>
                  <a:srgbClr val="2B4150"/>
                </a:solidFill>
                <a:latin typeface="MuseoModerno Medium" pitchFamily="34" charset="0"/>
                <a:ea typeface="MuseoModerno Medium" pitchFamily="34" charset="-122"/>
                <a:cs typeface="MuseoModerno Medium" pitchFamily="34" charset="-120"/>
              </a:rPr>
              <a:t>JOIN example</a:t>
            </a:r>
            <a:endParaRPr lang="en-US" sz="1450" dirty="0"/>
          </a:p>
        </p:txBody>
      </p:sp>
      <p:sp>
        <p:nvSpPr>
          <p:cNvPr id="8" name="Shape 6"/>
          <p:cNvSpPr/>
          <p:nvPr/>
        </p:nvSpPr>
        <p:spPr>
          <a:xfrm>
            <a:off x="1122632" y="3892252"/>
            <a:ext cx="10407588" cy="2237581"/>
          </a:xfrm>
          <a:prstGeom prst="roundRect">
            <a:avLst>
              <a:gd name="adj" fmla="val 1014"/>
            </a:avLst>
          </a:prstGeom>
          <a:solidFill>
            <a:srgbClr val="F2EFE8"/>
          </a:solidFill>
          <a:ln/>
        </p:spPr>
      </p:sp>
      <p:sp>
        <p:nvSpPr>
          <p:cNvPr id="9" name="Text 7"/>
          <p:cNvSpPr/>
          <p:nvPr/>
        </p:nvSpPr>
        <p:spPr>
          <a:xfrm>
            <a:off x="1303999" y="4043462"/>
            <a:ext cx="10044853" cy="1935163"/>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24292E"/>
                </a:solidFill>
                <a:latin typeface="Consolas" pitchFamily="34" charset="0"/>
                <a:ea typeface="Consolas" pitchFamily="34" charset="-122"/>
                <a:cs typeface="Consolas" pitchFamily="34" charset="-120"/>
              </a:rPr>
              <a:t>SELECT p.data-&gt;&gt;'project_id' AS project_id,
 p.data-&gt;&gt;'title' AS project_title,
 c.data-&gt;&gt;'company_name' AS company_name,
 cat.data-&gt;&gt;'category_name' AS category
FROM projects_json p
JOIN clients_json c ON p.data-&gt;&gt;'client_id' = c.data-&gt;&gt;'client_id'
JOIN categories_json cat ON p.data-&gt;&gt;'category_id' = cat.data-&gt;&gt;'category_id';
</a:t>
            </a:r>
            <a:endParaRPr lang="en-US" sz="1150" dirty="0"/>
          </a:p>
        </p:txBody>
      </p:sp>
      <p:sp>
        <p:nvSpPr>
          <p:cNvPr id="11" name="Rectangle 10">
            <a:extLst>
              <a:ext uri="{FF2B5EF4-FFF2-40B4-BE49-F238E27FC236}">
                <a16:creationId xmlns:a16="http://schemas.microsoft.com/office/drawing/2014/main" id="{85CC422F-B152-8A92-EF1E-81D9E7CC1841}"/>
              </a:ext>
            </a:extLst>
          </p:cNvPr>
          <p:cNvSpPr/>
          <p:nvPr/>
        </p:nvSpPr>
        <p:spPr>
          <a:xfrm>
            <a:off x="11056776" y="6550090"/>
            <a:ext cx="1063689" cy="242596"/>
          </a:xfrm>
          <a:prstGeom prst="rect">
            <a:avLst/>
          </a:prstGeom>
          <a:solidFill>
            <a:srgbClr val="FFFC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CF5"/>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977205"/>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24E73"/>
                </a:solidFill>
                <a:latin typeface="MuseoModerno Medium" pitchFamily="34" charset="0"/>
                <a:ea typeface="MuseoModerno Medium" pitchFamily="34" charset="-122"/>
                <a:cs typeface="MuseoModerno Medium" pitchFamily="34" charset="-120"/>
              </a:rPr>
              <a:t>Views, Stored Procedures, and Triggers</a:t>
            </a:r>
            <a:endParaRPr lang="en-US" sz="2950" dirty="0"/>
          </a:p>
        </p:txBody>
      </p:sp>
      <p:sp>
        <p:nvSpPr>
          <p:cNvPr id="3" name="Text 1"/>
          <p:cNvSpPr/>
          <p:nvPr/>
        </p:nvSpPr>
        <p:spPr>
          <a:xfrm>
            <a:off x="661475" y="2316262"/>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24E73"/>
                </a:solidFill>
                <a:latin typeface="MuseoModerno Medium" pitchFamily="34" charset="0"/>
                <a:ea typeface="MuseoModerno Medium" pitchFamily="34" charset="-122"/>
                <a:cs typeface="MuseoModerno Medium" pitchFamily="34" charset="-120"/>
              </a:rPr>
              <a:t>Views</a:t>
            </a:r>
            <a:endParaRPr lang="en-US" sz="1850" dirty="0"/>
          </a:p>
        </p:txBody>
      </p:sp>
      <p:sp>
        <p:nvSpPr>
          <p:cNvPr id="4" name="Text 2"/>
          <p:cNvSpPr/>
          <p:nvPr/>
        </p:nvSpPr>
        <p:spPr>
          <a:xfrm>
            <a:off x="661475" y="2800548"/>
            <a:ext cx="5203794" cy="1275755"/>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b="1" dirty="0">
                <a:solidFill>
                  <a:srgbClr val="2B4150"/>
                </a:solidFill>
                <a:latin typeface="Source Sans 3 Bold" pitchFamily="34" charset="0"/>
                <a:ea typeface="Source Sans 3 Bold" pitchFamily="34" charset="-122"/>
                <a:cs typeface="Source Sans 3 Bold" pitchFamily="34" charset="-120"/>
              </a:rPr>
              <a:t>project_summary_json</a:t>
            </a:r>
            <a:r>
              <a:rPr lang="en-US" sz="1450" dirty="0">
                <a:solidFill>
                  <a:srgbClr val="2B4150"/>
                </a:solidFill>
                <a:latin typeface="Source Sans 3" pitchFamily="34" charset="0"/>
                <a:ea typeface="Source Sans 3" pitchFamily="34" charset="-122"/>
                <a:cs typeface="Source Sans 3" pitchFamily="34" charset="-120"/>
              </a:rPr>
              <a:t> — combines project, client, and category data</a:t>
            </a:r>
            <a:endParaRPr lang="en-US" sz="1450" dirty="0"/>
          </a:p>
          <a:p>
            <a:pPr marL="294640" indent="-294640" algn="l">
              <a:lnSpc>
                <a:spcPct val="133000"/>
              </a:lnSpc>
              <a:buSzPct val="100000"/>
              <a:buChar char="•"/>
            </a:pPr>
            <a:r>
              <a:rPr lang="en-US" sz="1450" b="1" dirty="0">
                <a:solidFill>
                  <a:srgbClr val="2B4150"/>
                </a:solidFill>
                <a:latin typeface="Source Sans 3 Bold" pitchFamily="34" charset="0"/>
                <a:ea typeface="Source Sans 3 Bold" pitchFamily="34" charset="-122"/>
                <a:cs typeface="Source Sans 3 Bold" pitchFamily="34" charset="-120"/>
              </a:rPr>
              <a:t>freelancer_performance_json</a:t>
            </a:r>
            <a:r>
              <a:rPr lang="en-US" sz="1450" dirty="0">
                <a:solidFill>
                  <a:srgbClr val="2B4150"/>
                </a:solidFill>
                <a:latin typeface="Source Sans 3" pitchFamily="34" charset="0"/>
                <a:ea typeface="Source Sans 3" pitchFamily="34" charset="-122"/>
                <a:cs typeface="Source Sans 3" pitchFamily="34" charset="-120"/>
              </a:rPr>
              <a:t> — combines freelancer, user, rating, completed projects, and hourly rate data</a:t>
            </a:r>
            <a:endParaRPr lang="en-US" sz="1450" dirty="0"/>
          </a:p>
        </p:txBody>
      </p:sp>
      <p:sp>
        <p:nvSpPr>
          <p:cNvPr id="5" name="Text 3"/>
          <p:cNvSpPr/>
          <p:nvPr/>
        </p:nvSpPr>
        <p:spPr>
          <a:xfrm>
            <a:off x="661475" y="4265315"/>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24E73"/>
                </a:solidFill>
                <a:latin typeface="MuseoModerno Medium" pitchFamily="34" charset="0"/>
                <a:ea typeface="MuseoModerno Medium" pitchFamily="34" charset="-122"/>
                <a:cs typeface="MuseoModerno Medium" pitchFamily="34" charset="-120"/>
              </a:rPr>
              <a:t>Stored Procedures</a:t>
            </a:r>
            <a:endParaRPr lang="en-US" sz="1850" dirty="0"/>
          </a:p>
        </p:txBody>
      </p:sp>
      <p:sp>
        <p:nvSpPr>
          <p:cNvPr id="6" name="Text 4"/>
          <p:cNvSpPr/>
          <p:nvPr/>
        </p:nvSpPr>
        <p:spPr>
          <a:xfrm>
            <a:off x="661475" y="4749602"/>
            <a:ext cx="5203794" cy="670917"/>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b="1" dirty="0">
                <a:solidFill>
                  <a:srgbClr val="2B4150"/>
                </a:solidFill>
                <a:latin typeface="Source Sans 3 Bold" pitchFamily="34" charset="0"/>
                <a:ea typeface="Source Sans 3 Bold" pitchFamily="34" charset="-122"/>
                <a:cs typeface="Source Sans 3 Bold" pitchFamily="34" charset="-120"/>
              </a:rPr>
              <a:t>find_projects_by_budget(max_budget)</a:t>
            </a:r>
            <a:endParaRPr lang="en-US" sz="1450" dirty="0"/>
          </a:p>
          <a:p>
            <a:pPr marL="294640" indent="-294640" algn="l">
              <a:lnSpc>
                <a:spcPct val="133000"/>
              </a:lnSpc>
              <a:buSzPct val="100000"/>
              <a:buChar char="•"/>
            </a:pPr>
            <a:r>
              <a:rPr lang="en-US" sz="1450" b="1" dirty="0">
                <a:solidFill>
                  <a:srgbClr val="2B4150"/>
                </a:solidFill>
                <a:latin typeface="Source Sans 3 Bold" pitchFamily="34" charset="0"/>
                <a:ea typeface="Source Sans 3 Bold" pitchFamily="34" charset="-122"/>
                <a:cs typeface="Source Sans 3 Bold" pitchFamily="34" charset="-120"/>
              </a:rPr>
              <a:t>add_notification(user_id, title, message)</a:t>
            </a:r>
            <a:endParaRPr lang="en-US" sz="1450" dirty="0"/>
          </a:p>
        </p:txBody>
      </p:sp>
      <p:sp>
        <p:nvSpPr>
          <p:cNvPr id="7" name="Text 5"/>
          <p:cNvSpPr/>
          <p:nvPr/>
        </p:nvSpPr>
        <p:spPr>
          <a:xfrm>
            <a:off x="6332776" y="1922165"/>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24E73"/>
                </a:solidFill>
                <a:latin typeface="MuseoModerno Medium" pitchFamily="34" charset="0"/>
                <a:ea typeface="MuseoModerno Medium" pitchFamily="34" charset="-122"/>
                <a:cs typeface="MuseoModerno Medium" pitchFamily="34" charset="-120"/>
              </a:rPr>
              <a:t>Trigger</a:t>
            </a:r>
            <a:endParaRPr lang="en-US" sz="1850" dirty="0"/>
          </a:p>
        </p:txBody>
      </p:sp>
      <p:sp>
        <p:nvSpPr>
          <p:cNvPr id="8" name="Text 6"/>
          <p:cNvSpPr/>
          <p:nvPr/>
        </p:nvSpPr>
        <p:spPr>
          <a:xfrm>
            <a:off x="6332776" y="2406452"/>
            <a:ext cx="5203794" cy="1096367"/>
          </a:xfrm>
          <a:prstGeom prst="rect">
            <a:avLst/>
          </a:prstGeom>
          <a:noFill/>
          <a:ln/>
        </p:spPr>
        <p:txBody>
          <a:bodyPr wrap="square" lIns="0" tIns="0" rIns="0" bIns="0" rtlCol="0" anchor="t">
            <a:normAutofit/>
          </a:bodyPr>
          <a:lstStyle/>
          <a:p>
            <a:pPr marL="0" indent="0" algn="l">
              <a:lnSpc>
                <a:spcPct val="133000"/>
              </a:lnSpc>
              <a:spcAft>
                <a:spcPts val="1300"/>
              </a:spcAft>
              <a:buNone/>
            </a:pPr>
            <a:r>
              <a:rPr lang="en-US" sz="1450" b="1" dirty="0">
                <a:solidFill>
                  <a:srgbClr val="2B4150"/>
                </a:solidFill>
                <a:latin typeface="Source Sans 3 Bold" pitchFamily="34" charset="0"/>
                <a:ea typeface="Source Sans 3 Bold" pitchFamily="34" charset="-122"/>
                <a:cs typeface="Source Sans 3 Bold" pitchFamily="34" charset="-120"/>
              </a:rPr>
              <a:t>notify_new_proposal()</a:t>
            </a:r>
            <a:r>
              <a:rPr lang="en-US" sz="1450" dirty="0">
                <a:solidFill>
                  <a:srgbClr val="2B4150"/>
                </a:solidFill>
                <a:latin typeface="Source Sans 3" pitchFamily="34" charset="0"/>
                <a:ea typeface="Source Sans 3" pitchFamily="34" charset="-122"/>
                <a:cs typeface="Source Sans 3" pitchFamily="34" charset="-120"/>
              </a:rPr>
              <a:t> runs after an insert on </a:t>
            </a:r>
            <a:r>
              <a:rPr lang="en-US" sz="1450" dirty="0">
                <a:solidFill>
                  <a:srgbClr val="2B4150"/>
                </a:solidFill>
                <a:highlight>
                  <a:srgbClr val="F2EFE8"/>
                </a:highlight>
                <a:latin typeface="Consolas" pitchFamily="34" charset="0"/>
                <a:ea typeface="Consolas" pitchFamily="34" charset="-122"/>
                <a:cs typeface="Consolas" pitchFamily="34" charset="-120"/>
              </a:rPr>
              <a:t>proposals_json</a:t>
            </a:r>
            <a:r>
              <a:rPr lang="en-US" sz="1450" dirty="0">
                <a:solidFill>
                  <a:srgbClr val="2B4150"/>
                </a:solidFill>
                <a:latin typeface="Source Sans 3" pitchFamily="34" charset="0"/>
                <a:ea typeface="Source Sans 3" pitchFamily="34" charset="-122"/>
                <a:cs typeface="Source Sans 3" pitchFamily="34" charset="-120"/>
              </a:rPr>
              <a:t> and creates a JSONB notification for the project’s client.</a:t>
            </a:r>
            <a:endParaRPr lang="en-US" sz="1450" dirty="0"/>
          </a:p>
          <a:p>
            <a:pPr marL="0" indent="0" algn="l">
              <a:lnSpc>
                <a:spcPct val="133000"/>
              </a:lnSpc>
              <a:buNone/>
            </a:pPr>
            <a:r>
              <a:rPr lang="en-US" sz="1450" b="1" dirty="0">
                <a:solidFill>
                  <a:srgbClr val="2B4150"/>
                </a:solidFill>
                <a:latin typeface="Source Sans 3 Bold" pitchFamily="34" charset="0"/>
                <a:ea typeface="Source Sans 3 Bold" pitchFamily="34" charset="-122"/>
                <a:cs typeface="Source Sans 3 Bold" pitchFamily="34" charset="-120"/>
              </a:rPr>
              <a:t>Trigger flow:</a:t>
            </a:r>
            <a:endParaRPr lang="en-US" sz="1450" dirty="0"/>
          </a:p>
        </p:txBody>
      </p:sp>
      <p:pic>
        <p:nvPicPr>
          <p:cNvPr id="9" name="Image 0" descr="preencoded.png"/>
          <p:cNvPicPr>
            <a:picLocks noChangeAspect="1"/>
          </p:cNvPicPr>
          <p:nvPr/>
        </p:nvPicPr>
        <p:blipFill>
          <a:blip r:embed="rId3"/>
          <a:stretch>
            <a:fillRect/>
          </a:stretch>
        </p:blipFill>
        <p:spPr>
          <a:xfrm>
            <a:off x="6332776" y="3715445"/>
            <a:ext cx="5203794" cy="1952724"/>
          </a:xfrm>
          <a:prstGeom prst="rect">
            <a:avLst/>
          </a:prstGeom>
        </p:spPr>
      </p:pic>
      <p:sp>
        <p:nvSpPr>
          <p:cNvPr id="10" name="Text 7"/>
          <p:cNvSpPr/>
          <p:nvPr/>
        </p:nvSpPr>
        <p:spPr>
          <a:xfrm>
            <a:off x="10537370" y="5194127"/>
            <a:ext cx="784877" cy="151200"/>
          </a:xfrm>
          <a:prstGeom prst="rect">
            <a:avLst/>
          </a:prstGeom>
          <a:noFill/>
          <a:ln/>
        </p:spPr>
        <p:txBody>
          <a:bodyPr wrap="none" lIns="0" tIns="0" rIns="0" bIns="0" rtlCol="0" anchor="t"/>
          <a:lstStyle/>
          <a:p>
            <a:pPr marL="0" indent="0" algn="ctr">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Build JSON</a:t>
            </a:r>
            <a:endParaRPr lang="en-US" sz="950" dirty="0"/>
          </a:p>
        </p:txBody>
      </p:sp>
      <p:sp>
        <p:nvSpPr>
          <p:cNvPr id="11" name="Text 8"/>
          <p:cNvSpPr/>
          <p:nvPr/>
        </p:nvSpPr>
        <p:spPr>
          <a:xfrm>
            <a:off x="9548210" y="5118527"/>
            <a:ext cx="784877" cy="302401"/>
          </a:xfrm>
          <a:prstGeom prst="rect">
            <a:avLst/>
          </a:prstGeom>
          <a:noFill/>
          <a:ln/>
        </p:spPr>
        <p:txBody>
          <a:bodyPr wrap="square" lIns="0" tIns="0" rIns="0" bIns="0" rtlCol="0" anchor="t">
            <a:normAutofit/>
          </a:bodyPr>
          <a:lstStyle/>
          <a:p>
            <a:pPr marL="0" indent="0" algn="ctr">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Identify Client</a:t>
            </a:r>
            <a:endParaRPr lang="en-US" sz="950" dirty="0"/>
          </a:p>
        </p:txBody>
      </p:sp>
      <p:sp>
        <p:nvSpPr>
          <p:cNvPr id="12" name="Text 9"/>
          <p:cNvSpPr/>
          <p:nvPr/>
        </p:nvSpPr>
        <p:spPr>
          <a:xfrm>
            <a:off x="8564426" y="5118527"/>
            <a:ext cx="784877" cy="302401"/>
          </a:xfrm>
          <a:prstGeom prst="rect">
            <a:avLst/>
          </a:prstGeom>
          <a:noFill/>
          <a:ln/>
        </p:spPr>
        <p:txBody>
          <a:bodyPr wrap="square" lIns="0" tIns="0" rIns="0" bIns="0" rtlCol="0" anchor="t">
            <a:normAutofit/>
          </a:bodyPr>
          <a:lstStyle/>
          <a:p>
            <a:pPr marL="0" indent="0" algn="ctr">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Lookup Project</a:t>
            </a:r>
            <a:endParaRPr lang="en-US" sz="950" dirty="0"/>
          </a:p>
        </p:txBody>
      </p:sp>
      <p:sp>
        <p:nvSpPr>
          <p:cNvPr id="13" name="Text 10"/>
          <p:cNvSpPr/>
          <p:nvPr/>
        </p:nvSpPr>
        <p:spPr>
          <a:xfrm>
            <a:off x="7580642" y="5118527"/>
            <a:ext cx="784877" cy="302401"/>
          </a:xfrm>
          <a:prstGeom prst="rect">
            <a:avLst/>
          </a:prstGeom>
          <a:noFill/>
          <a:ln/>
        </p:spPr>
        <p:txBody>
          <a:bodyPr wrap="square" lIns="0" tIns="0" rIns="0" bIns="0" rtlCol="0" anchor="t">
            <a:normAutofit/>
          </a:bodyPr>
          <a:lstStyle/>
          <a:p>
            <a:pPr marL="0" indent="0" algn="ctr">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AFTER INSERT</a:t>
            </a:r>
            <a:endParaRPr lang="en-US" sz="950" dirty="0"/>
          </a:p>
        </p:txBody>
      </p:sp>
      <p:sp>
        <p:nvSpPr>
          <p:cNvPr id="14" name="Text 11"/>
          <p:cNvSpPr/>
          <p:nvPr/>
        </p:nvSpPr>
        <p:spPr>
          <a:xfrm>
            <a:off x="6575355" y="5118527"/>
            <a:ext cx="784877" cy="302401"/>
          </a:xfrm>
          <a:prstGeom prst="rect">
            <a:avLst/>
          </a:prstGeom>
          <a:noFill/>
          <a:ln/>
        </p:spPr>
        <p:txBody>
          <a:bodyPr wrap="square" lIns="0" tIns="0" rIns="0" bIns="0" rtlCol="0" anchor="t">
            <a:normAutofit/>
          </a:bodyPr>
          <a:lstStyle/>
          <a:p>
            <a:pPr marL="0" indent="0" algn="ctr">
              <a:lnSpc>
                <a:spcPct val="104000"/>
              </a:lnSpc>
              <a:buNone/>
            </a:pPr>
            <a:r>
              <a:rPr lang="en-US" sz="950" dirty="0">
                <a:solidFill>
                  <a:srgbClr val="2B4150"/>
                </a:solidFill>
                <a:latin typeface="MuseoModerno Medium" pitchFamily="34" charset="0"/>
                <a:ea typeface="MuseoModerno Medium" pitchFamily="34" charset="-122"/>
                <a:cs typeface="MuseoModerno Medium" pitchFamily="34" charset="-120"/>
              </a:rPr>
              <a:t>New Proposal</a:t>
            </a:r>
            <a:endParaRPr lang="en-US" sz="950" dirty="0"/>
          </a:p>
        </p:txBody>
      </p:sp>
      <p:sp>
        <p:nvSpPr>
          <p:cNvPr id="16" name="Rectangle 15">
            <a:extLst>
              <a:ext uri="{FF2B5EF4-FFF2-40B4-BE49-F238E27FC236}">
                <a16:creationId xmlns:a16="http://schemas.microsoft.com/office/drawing/2014/main" id="{E246B7C5-9227-011C-631F-FD34197ADCC8}"/>
              </a:ext>
            </a:extLst>
          </p:cNvPr>
          <p:cNvSpPr/>
          <p:nvPr/>
        </p:nvSpPr>
        <p:spPr>
          <a:xfrm>
            <a:off x="11056776" y="6550090"/>
            <a:ext cx="1063689" cy="242596"/>
          </a:xfrm>
          <a:prstGeom prst="rect">
            <a:avLst/>
          </a:prstGeom>
          <a:solidFill>
            <a:srgbClr val="FFFC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CF5"/>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224955"/>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24E73"/>
                </a:solidFill>
                <a:latin typeface="MuseoModerno Medium" pitchFamily="34" charset="0"/>
                <a:ea typeface="MuseoModerno Medium" pitchFamily="34" charset="-122"/>
                <a:cs typeface="MuseoModerno Medium" pitchFamily="34" charset="-120"/>
              </a:rPr>
              <a:t>Query Optimization &amp; Indexing</a:t>
            </a:r>
            <a:endParaRPr lang="en-US" sz="2950" dirty="0"/>
          </a:p>
        </p:txBody>
      </p:sp>
      <p:sp>
        <p:nvSpPr>
          <p:cNvPr id="3" name="Text 1"/>
          <p:cNvSpPr/>
          <p:nvPr/>
        </p:nvSpPr>
        <p:spPr>
          <a:xfrm>
            <a:off x="661475" y="2075458"/>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2B4150"/>
                </a:solidFill>
                <a:latin typeface="Source Sans 3" pitchFamily="34" charset="0"/>
                <a:ea typeface="Source Sans 3" pitchFamily="34" charset="-122"/>
                <a:cs typeface="Source Sans 3" pitchFamily="34" charset="-120"/>
              </a:rPr>
              <a:t>Applied indexing strategies:</a:t>
            </a:r>
            <a:endParaRPr lang="en-US" sz="1450" dirty="0"/>
          </a:p>
        </p:txBody>
      </p:sp>
      <p:sp>
        <p:nvSpPr>
          <p:cNvPr id="4" name="Shape 2"/>
          <p:cNvSpPr/>
          <p:nvPr/>
        </p:nvSpPr>
        <p:spPr>
          <a:xfrm>
            <a:off x="661475" y="2590502"/>
            <a:ext cx="3496877" cy="3042543"/>
          </a:xfrm>
          <a:prstGeom prst="roundRect">
            <a:avLst>
              <a:gd name="adj" fmla="val 932"/>
            </a:avLst>
          </a:prstGeom>
          <a:solidFill>
            <a:srgbClr val="FFFCF5"/>
          </a:solidFill>
          <a:ln w="25399">
            <a:solidFill>
              <a:srgbClr val="D9D4C9"/>
            </a:solidFill>
            <a:prstDash val="solid"/>
          </a:ln>
        </p:spPr>
      </p:sp>
      <p:sp>
        <p:nvSpPr>
          <p:cNvPr id="5" name="Text 3"/>
          <p:cNvSpPr/>
          <p:nvPr/>
        </p:nvSpPr>
        <p:spPr>
          <a:xfrm>
            <a:off x="875881" y="2804914"/>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2B4150"/>
                </a:solidFill>
                <a:latin typeface="MuseoModerno Medium" pitchFamily="34" charset="0"/>
                <a:ea typeface="MuseoModerno Medium" pitchFamily="34" charset="-122"/>
                <a:cs typeface="MuseoModerno Medium" pitchFamily="34" charset="-120"/>
              </a:rPr>
              <a:t>GIN index for JSONB</a:t>
            </a:r>
            <a:endParaRPr lang="en-US" sz="1850" dirty="0"/>
          </a:p>
        </p:txBody>
      </p:sp>
      <p:sp>
        <p:nvSpPr>
          <p:cNvPr id="6" name="Text 4"/>
          <p:cNvSpPr/>
          <p:nvPr/>
        </p:nvSpPr>
        <p:spPr>
          <a:xfrm>
            <a:off x="875881" y="3213596"/>
            <a:ext cx="3068065" cy="1266825"/>
          </a:xfrm>
          <a:prstGeom prst="rect">
            <a:avLst/>
          </a:prstGeom>
          <a:noFill/>
          <a:ln/>
        </p:spPr>
        <p:txBody>
          <a:bodyPr wrap="square" lIns="0" tIns="0" rIns="0" bIns="0" rtlCol="0" anchor="t">
            <a:normAutofit fontScale="92500"/>
          </a:bodyPr>
          <a:lstStyle/>
          <a:p>
            <a:pPr marL="0" indent="0" algn="l">
              <a:lnSpc>
                <a:spcPct val="133000"/>
              </a:lnSpc>
              <a:buNone/>
            </a:pPr>
            <a:r>
              <a:rPr lang="en-US" sz="1450" dirty="0">
                <a:solidFill>
                  <a:srgbClr val="2B4150"/>
                </a:solidFill>
                <a:highlight>
                  <a:srgbClr val="F2EFE8"/>
                </a:highlight>
                <a:latin typeface="Consolas" pitchFamily="34" charset="0"/>
                <a:ea typeface="Consolas" pitchFamily="34" charset="-122"/>
                <a:cs typeface="Consolas" pitchFamily="34" charset="-120"/>
              </a:rPr>
              <a:t>CREATE INDEX idx_users_json_gin ON users_json USING GIN (data);</a:t>
            </a:r>
            <a:r>
              <a:rPr lang="en-US" sz="1450" dirty="0">
                <a:solidFill>
                  <a:srgbClr val="2B4150"/>
                </a:solidFill>
                <a:latin typeface="Source Sans 3" pitchFamily="34" charset="0"/>
                <a:ea typeface="Source Sans 3" pitchFamily="34" charset="-122"/>
                <a:cs typeface="Source Sans 3" pitchFamily="34" charset="-120"/>
              </a:rPr>
              <a:t> Improves containment queries using </a:t>
            </a:r>
            <a:r>
              <a:rPr lang="en-US" sz="1450" dirty="0">
                <a:solidFill>
                  <a:srgbClr val="2B4150"/>
                </a:solidFill>
                <a:highlight>
                  <a:srgbClr val="F2EFE8"/>
                </a:highlight>
                <a:latin typeface="Consolas" pitchFamily="34" charset="0"/>
                <a:ea typeface="Consolas" pitchFamily="34" charset="-122"/>
                <a:cs typeface="Consolas" pitchFamily="34" charset="-120"/>
              </a:rPr>
              <a:t>@&gt;</a:t>
            </a:r>
            <a:r>
              <a:rPr lang="en-US" sz="1450" dirty="0">
                <a:solidFill>
                  <a:srgbClr val="2B4150"/>
                </a:solidFill>
                <a:latin typeface="Source Sans 3" pitchFamily="34" charset="0"/>
                <a:ea typeface="Source Sans 3" pitchFamily="34" charset="-122"/>
                <a:cs typeface="Source Sans 3" pitchFamily="34" charset="-120"/>
              </a:rPr>
              <a:t> and key lookups.</a:t>
            </a:r>
            <a:endParaRPr lang="en-US" sz="1450" dirty="0"/>
          </a:p>
        </p:txBody>
      </p:sp>
      <p:sp>
        <p:nvSpPr>
          <p:cNvPr id="7" name="Shape 5"/>
          <p:cNvSpPr/>
          <p:nvPr/>
        </p:nvSpPr>
        <p:spPr>
          <a:xfrm>
            <a:off x="4347359" y="2590502"/>
            <a:ext cx="3496877" cy="3042543"/>
          </a:xfrm>
          <a:prstGeom prst="roundRect">
            <a:avLst>
              <a:gd name="adj" fmla="val 932"/>
            </a:avLst>
          </a:prstGeom>
          <a:solidFill>
            <a:srgbClr val="FFFCF5"/>
          </a:solidFill>
          <a:ln w="25399">
            <a:solidFill>
              <a:srgbClr val="D9D4C9"/>
            </a:solidFill>
            <a:prstDash val="solid"/>
          </a:ln>
        </p:spPr>
      </p:sp>
      <p:sp>
        <p:nvSpPr>
          <p:cNvPr id="8" name="Text 6"/>
          <p:cNvSpPr/>
          <p:nvPr/>
        </p:nvSpPr>
        <p:spPr>
          <a:xfrm>
            <a:off x="4561766" y="2804914"/>
            <a:ext cx="3068065"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2B4150"/>
                </a:solidFill>
                <a:latin typeface="MuseoModerno Medium" pitchFamily="34" charset="0"/>
                <a:ea typeface="MuseoModerno Medium" pitchFamily="34" charset="-122"/>
                <a:cs typeface="MuseoModerno Medium" pitchFamily="34" charset="-120"/>
              </a:rPr>
              <a:t>Expression index for numeric fields</a:t>
            </a:r>
            <a:endParaRPr lang="en-US" sz="1850" dirty="0"/>
          </a:p>
        </p:txBody>
      </p:sp>
      <p:sp>
        <p:nvSpPr>
          <p:cNvPr id="9" name="Text 7"/>
          <p:cNvSpPr/>
          <p:nvPr/>
        </p:nvSpPr>
        <p:spPr>
          <a:xfrm>
            <a:off x="4561766" y="3508871"/>
            <a:ext cx="3068065" cy="190976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B4150"/>
                </a:solidFill>
                <a:highlight>
                  <a:srgbClr val="F2EFE8"/>
                </a:highlight>
                <a:latin typeface="Consolas" pitchFamily="34" charset="0"/>
                <a:ea typeface="Consolas" pitchFamily="34" charset="-122"/>
                <a:cs typeface="Consolas" pitchFamily="34" charset="-120"/>
              </a:rPr>
              <a:t>CREATE INDEX idx_projects_budget ON projects_json (((data-&gt;&gt;'budget')::NUMERIC));</a:t>
            </a:r>
            <a:r>
              <a:rPr lang="en-US" sz="1450" dirty="0">
                <a:solidFill>
                  <a:srgbClr val="2B4150"/>
                </a:solidFill>
                <a:latin typeface="Source Sans 3" pitchFamily="34" charset="0"/>
                <a:ea typeface="Source Sans 3" pitchFamily="34" charset="-122"/>
                <a:cs typeface="Source Sans 3" pitchFamily="34" charset="-120"/>
              </a:rPr>
              <a:t> Speeds up numeric range filters and </a:t>
            </a:r>
            <a:r>
              <a:rPr lang="en-US" sz="1450" dirty="0">
                <a:solidFill>
                  <a:srgbClr val="2B4150"/>
                </a:solidFill>
                <a:highlight>
                  <a:srgbClr val="F2EFE8"/>
                </a:highlight>
                <a:latin typeface="Consolas" pitchFamily="34" charset="0"/>
                <a:ea typeface="Consolas" pitchFamily="34" charset="-122"/>
                <a:cs typeface="Consolas" pitchFamily="34" charset="-120"/>
              </a:rPr>
              <a:t>ORDER BY</a:t>
            </a:r>
            <a:r>
              <a:rPr lang="en-US" sz="1450" dirty="0">
                <a:solidFill>
                  <a:srgbClr val="2B4150"/>
                </a:solidFill>
                <a:latin typeface="Source Sans 3" pitchFamily="34" charset="0"/>
                <a:ea typeface="Source Sans 3" pitchFamily="34" charset="-122"/>
                <a:cs typeface="Source Sans 3" pitchFamily="34" charset="-120"/>
              </a:rPr>
              <a:t> operations on budget.</a:t>
            </a:r>
            <a:endParaRPr lang="en-US" sz="1450" dirty="0"/>
          </a:p>
        </p:txBody>
      </p:sp>
      <p:sp>
        <p:nvSpPr>
          <p:cNvPr id="10" name="Shape 8"/>
          <p:cNvSpPr/>
          <p:nvPr/>
        </p:nvSpPr>
        <p:spPr>
          <a:xfrm>
            <a:off x="8033244" y="2590502"/>
            <a:ext cx="3496877" cy="3042543"/>
          </a:xfrm>
          <a:prstGeom prst="roundRect">
            <a:avLst>
              <a:gd name="adj" fmla="val 932"/>
            </a:avLst>
          </a:prstGeom>
          <a:solidFill>
            <a:srgbClr val="FFFCF5"/>
          </a:solidFill>
          <a:ln w="25399">
            <a:solidFill>
              <a:srgbClr val="D9D4C9"/>
            </a:solidFill>
            <a:prstDash val="solid"/>
          </a:ln>
        </p:spPr>
      </p:sp>
      <p:sp>
        <p:nvSpPr>
          <p:cNvPr id="11" name="Text 9"/>
          <p:cNvSpPr/>
          <p:nvPr/>
        </p:nvSpPr>
        <p:spPr>
          <a:xfrm>
            <a:off x="8247650" y="2804914"/>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2B4150"/>
                </a:solidFill>
                <a:latin typeface="MuseoModerno Medium" pitchFamily="34" charset="0"/>
                <a:ea typeface="MuseoModerno Medium" pitchFamily="34" charset="-122"/>
                <a:cs typeface="MuseoModerno Medium" pitchFamily="34" charset="-120"/>
              </a:rPr>
              <a:t>EXPLAIN ANALYZE</a:t>
            </a:r>
            <a:endParaRPr lang="en-US" sz="1850" dirty="0"/>
          </a:p>
        </p:txBody>
      </p:sp>
      <p:sp>
        <p:nvSpPr>
          <p:cNvPr id="12" name="Text 10"/>
          <p:cNvSpPr/>
          <p:nvPr/>
        </p:nvSpPr>
        <p:spPr>
          <a:xfrm>
            <a:off x="8247650" y="3213596"/>
            <a:ext cx="3068065"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B4150"/>
                </a:solidFill>
                <a:latin typeface="Source Sans 3" pitchFamily="34" charset="0"/>
                <a:ea typeface="Source Sans 3" pitchFamily="34" charset="-122"/>
                <a:cs typeface="Source Sans 3" pitchFamily="34" charset="-120"/>
              </a:rPr>
              <a:t>Used to compare execution plans before and after indexing. Actual execution time: ___ ms (placeholder until a real run is available).</a:t>
            </a:r>
            <a:endParaRPr lang="en-US" sz="1450" dirty="0"/>
          </a:p>
        </p:txBody>
      </p:sp>
      <p:sp>
        <p:nvSpPr>
          <p:cNvPr id="14" name="Rectangle 13">
            <a:extLst>
              <a:ext uri="{FF2B5EF4-FFF2-40B4-BE49-F238E27FC236}">
                <a16:creationId xmlns:a16="http://schemas.microsoft.com/office/drawing/2014/main" id="{E846428E-B76D-A074-795C-A34097FC2631}"/>
              </a:ext>
            </a:extLst>
          </p:cNvPr>
          <p:cNvSpPr/>
          <p:nvPr/>
        </p:nvSpPr>
        <p:spPr>
          <a:xfrm>
            <a:off x="11056776" y="6550090"/>
            <a:ext cx="1063689" cy="242596"/>
          </a:xfrm>
          <a:prstGeom prst="rect">
            <a:avLst/>
          </a:prstGeom>
          <a:solidFill>
            <a:srgbClr val="FFFC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CF5"/>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2287786"/>
            <a:ext cx="10868745" cy="1181398"/>
          </a:xfrm>
          <a:prstGeom prst="rect">
            <a:avLst/>
          </a:prstGeom>
          <a:noFill/>
          <a:ln/>
        </p:spPr>
        <p:txBody>
          <a:bodyPr wrap="none" lIns="0" tIns="0" rIns="0" bIns="0" rtlCol="0" anchor="t"/>
          <a:lstStyle/>
          <a:p>
            <a:pPr marL="0" indent="0" algn="ctr">
              <a:lnSpc>
                <a:spcPct val="104000"/>
              </a:lnSpc>
              <a:buNone/>
            </a:pPr>
            <a:r>
              <a:rPr lang="en-US" sz="7400" dirty="0">
                <a:solidFill>
                  <a:srgbClr val="124E73"/>
                </a:solidFill>
                <a:latin typeface="MuseoModerno Medium" pitchFamily="34" charset="0"/>
                <a:ea typeface="MuseoModerno Medium" pitchFamily="34" charset="-122"/>
                <a:cs typeface="MuseoModerno Medium" pitchFamily="34" charset="-120"/>
              </a:rPr>
              <a:t>Thank You</a:t>
            </a:r>
            <a:endParaRPr lang="en-US" sz="7400" dirty="0"/>
          </a:p>
        </p:txBody>
      </p:sp>
      <p:sp>
        <p:nvSpPr>
          <p:cNvPr id="3" name="Text 1"/>
          <p:cNvSpPr/>
          <p:nvPr/>
        </p:nvSpPr>
        <p:spPr>
          <a:xfrm>
            <a:off x="661475" y="3752652"/>
            <a:ext cx="10868745" cy="817463"/>
          </a:xfrm>
          <a:prstGeom prst="rect">
            <a:avLst/>
          </a:prstGeom>
          <a:noFill/>
          <a:ln/>
        </p:spPr>
        <p:txBody>
          <a:bodyPr wrap="square" lIns="0" tIns="0" rIns="0" bIns="0" rtlCol="0" anchor="t"/>
          <a:lstStyle/>
          <a:p>
            <a:pPr marL="0" indent="0" algn="ctr">
              <a:lnSpc>
                <a:spcPct val="133000"/>
              </a:lnSpc>
              <a:spcAft>
                <a:spcPts val="1650"/>
              </a:spcAft>
              <a:buNone/>
            </a:pPr>
            <a:r>
              <a:rPr lang="en-US" sz="1450" dirty="0">
                <a:solidFill>
                  <a:srgbClr val="2B4150"/>
                </a:solidFill>
                <a:latin typeface="Source Sans 3" pitchFamily="34" charset="0"/>
                <a:ea typeface="Source Sans 3" pitchFamily="34" charset="-122"/>
                <a:cs typeface="Source Sans 3" pitchFamily="34" charset="-120"/>
              </a:rPr>
              <a:t>Utkarsh Gupta</a:t>
            </a:r>
            <a:endParaRPr lang="en-US" sz="1450" dirty="0"/>
          </a:p>
          <a:p>
            <a:pPr marL="0" indent="0" algn="ctr">
              <a:lnSpc>
                <a:spcPct val="133000"/>
              </a:lnSpc>
              <a:buNone/>
            </a:pPr>
            <a:r>
              <a:rPr lang="en-US" sz="1450" dirty="0">
                <a:solidFill>
                  <a:srgbClr val="2B4150"/>
                </a:solidFill>
                <a:latin typeface="Source Sans 3" pitchFamily="34" charset="0"/>
                <a:ea typeface="Source Sans 3" pitchFamily="34" charset="-122"/>
                <a:cs typeface="Source Sans 3" pitchFamily="34" charset="-120"/>
              </a:rPr>
              <a:t>G H Raisoni College of Engineering and Management, Pune</a:t>
            </a:r>
            <a:endParaRPr lang="en-US" sz="1450" dirty="0"/>
          </a:p>
        </p:txBody>
      </p:sp>
      <p:sp>
        <p:nvSpPr>
          <p:cNvPr id="5" name="Rectangle 4">
            <a:extLst>
              <a:ext uri="{FF2B5EF4-FFF2-40B4-BE49-F238E27FC236}">
                <a16:creationId xmlns:a16="http://schemas.microsoft.com/office/drawing/2014/main" id="{48361352-A2D7-CF61-D543-C2B0CA6BADFA}"/>
              </a:ext>
            </a:extLst>
          </p:cNvPr>
          <p:cNvSpPr/>
          <p:nvPr/>
        </p:nvSpPr>
        <p:spPr>
          <a:xfrm>
            <a:off x="11056776" y="6550090"/>
            <a:ext cx="1063689" cy="242596"/>
          </a:xfrm>
          <a:prstGeom prst="rect">
            <a:avLst/>
          </a:prstGeom>
          <a:solidFill>
            <a:srgbClr val="F8E4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CF5"/>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790</Words>
  <Application>Microsoft Office PowerPoint</Application>
  <PresentationFormat>Widescreen</PresentationFormat>
  <Paragraphs>109</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MuseoModerno Light</vt:lpstr>
      <vt:lpstr>Arial</vt:lpstr>
      <vt:lpstr>Source Sans 3</vt:lpstr>
      <vt:lpstr>Consolas</vt:lpstr>
      <vt:lpstr>Source Sans 3 Bold</vt:lpstr>
      <vt:lpstr>MuseoModerno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Utkarsh</dc:creator>
  <cp:lastModifiedBy>Utkarsh Gupta</cp:lastModifiedBy>
  <cp:revision>2</cp:revision>
  <dcterms:created xsi:type="dcterms:W3CDTF">2026-09-23T18:44:56Z</dcterms:created>
  <dcterms:modified xsi:type="dcterms:W3CDTF">2026-09-23T18:50:38Z</dcterms:modified>
</cp:coreProperties>
</file>